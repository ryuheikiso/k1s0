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371600"/>
          </a:xfrm>
          <a:prstGeom prst="rect">
            <a:avLst/>
          </a:prstGeom>
          <a:noFill/>
        </p:spPr>
        <p:txBody>
          <a:bodyPr wrap="square">
            <a:spAutoFit/>
          </a:bodyPr>
          <a:lstStyle/>
          <a:p>
            <a:pPr algn="ctr">
              <a:defRPr sz="4400" b="1">
                <a:solidFill>
                  <a:srgbClr val="FFFFFF"/>
                </a:solidFill>
              </a:defRPr>
            </a:pPr>
            <a:r>
              <a:t>開発者心理分析レポート</a:t>
            </a:r>
          </a:p>
        </p:txBody>
      </p:sp>
      <p:sp>
        <p:nvSpPr>
          <p:cNvPr id="4" name="TextBox 3"/>
          <p:cNvSpPr txBox="1"/>
          <p:nvPr/>
        </p:nvSpPr>
        <p:spPr>
          <a:xfrm>
            <a:off x="914400" y="2926080"/>
            <a:ext cx="10058400" cy="914400"/>
          </a:xfrm>
          <a:prstGeom prst="rect">
            <a:avLst/>
          </a:prstGeom>
          <a:noFill/>
        </p:spPr>
        <p:txBody>
          <a:bodyPr wrap="square">
            <a:spAutoFit/>
          </a:bodyPr>
          <a:lstStyle/>
          <a:p>
            <a:pPr algn="ctr">
              <a:defRPr sz="2400" b="0">
                <a:solidFill>
                  <a:srgbClr val="BDC3C7"/>
                </a:solidFill>
              </a:defRPr>
            </a:pPr>
            <a:r>
              <a:t>木曽 龍平（Ryuhei Kiso）— k1s0 プロジェクト創設者</a:t>
            </a:r>
          </a:p>
        </p:txBody>
      </p:sp>
      <p:sp>
        <p:nvSpPr>
          <p:cNvPr id="5" name="TextBox 4"/>
          <p:cNvSpPr txBox="1"/>
          <p:nvPr/>
        </p:nvSpPr>
        <p:spPr>
          <a:xfrm>
            <a:off x="914400" y="4389120"/>
            <a:ext cx="10058400" cy="1371600"/>
          </a:xfrm>
          <a:prstGeom prst="rect">
            <a:avLst/>
          </a:prstGeom>
          <a:noFill/>
        </p:spPr>
        <p:txBody>
          <a:bodyPr wrap="square">
            <a:spAutoFit/>
          </a:bodyPr>
          <a:lstStyle/>
          <a:p>
            <a:pPr algn="ctr">
              <a:defRPr sz="1600" b="0">
                <a:solidFill>
                  <a:srgbClr val="7F8C8D"/>
                </a:solidFill>
              </a:defRPr>
            </a:pPr>
            <a:r>
              <a:t>対象：32歳 / エンジニア歴8年</a:t>
            </a:r>
            <a:br/>
            <a:r>
              <a:t>分析手法：コードベース・設計文書・哲学的記述の多角的心理学分析</a:t>
            </a:r>
            <a:br/>
            <a:r>
              <a:t>作成日：2026年1月30日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2800" b="1">
                <a:solidFill>
                  <a:srgbClr val="FFFFFF"/>
                </a:solidFill>
              </a:defRPr>
            </a:pPr>
            <a:r>
              <a:t>分析対象：philosophy/kiso_memo.txt 全10箇条</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1700" b="0">
                <a:solidFill>
                  <a:srgbClr val="1A1A1A"/>
                </a:solidFill>
              </a:defRPr>
            </a:pPr>
            <a:r>
              <a:t>1. システムにおいて一番の不確定要素は流動的な人員配置による開発体制（人間）である。</a:t>
            </a:r>
          </a:p>
          <a:p>
            <a:pPr algn="l">
              <a:spcBef>
                <a:spcPts val="800"/>
              </a:spcBef>
              <a:defRPr sz="1700" b="0">
                <a:solidFill>
                  <a:srgbClr val="1A1A1A"/>
                </a:solidFill>
              </a:defRPr>
            </a:pPr>
            <a:r>
              <a:t>2. 末端の開発者に倫理を期待してはいけない。幹の人間が責任を負うべきである。</a:t>
            </a:r>
          </a:p>
          <a:p>
            <a:pPr algn="l">
              <a:spcBef>
                <a:spcPts val="800"/>
              </a:spcBef>
              <a:defRPr sz="1700" b="0">
                <a:solidFill>
                  <a:srgbClr val="1A1A1A"/>
                </a:solidFill>
              </a:defRPr>
            </a:pPr>
            <a:r>
              <a:t>3. 一個人の拡大解釈を認めてはいけない。</a:t>
            </a:r>
          </a:p>
          <a:p>
            <a:pPr algn="l">
              <a:spcBef>
                <a:spcPts val="800"/>
              </a:spcBef>
              <a:defRPr sz="1700" b="0">
                <a:solidFill>
                  <a:srgbClr val="1A1A1A"/>
                </a:solidFill>
              </a:defRPr>
            </a:pPr>
            <a:r>
              <a:t>4. 生成AIでチェックするのはあくまで成果物であり、バグの本質は作成の過程にある。</a:t>
            </a:r>
          </a:p>
          <a:p>
            <a:pPr algn="l">
              <a:spcBef>
                <a:spcPts val="800"/>
              </a:spcBef>
              <a:defRPr sz="1700" b="0">
                <a:solidFill>
                  <a:srgbClr val="1A1A1A"/>
                </a:solidFill>
              </a:defRPr>
            </a:pPr>
            <a:r>
              <a:t>5. 自由とカオスは紙一重。</a:t>
            </a:r>
          </a:p>
          <a:p>
            <a:pPr algn="l">
              <a:spcBef>
                <a:spcPts val="800"/>
              </a:spcBef>
              <a:defRPr sz="1700" b="0">
                <a:solidFill>
                  <a:srgbClr val="1A1A1A"/>
                </a:solidFill>
              </a:defRPr>
            </a:pPr>
            <a:r>
              <a:t>6. 末端の開発者は未来を考えてくれないものである。</a:t>
            </a:r>
          </a:p>
          <a:p>
            <a:pPr algn="l">
              <a:spcBef>
                <a:spcPts val="800"/>
              </a:spcBef>
              <a:defRPr sz="1700" b="0">
                <a:solidFill>
                  <a:srgbClr val="1A1A1A"/>
                </a:solidFill>
              </a:defRPr>
            </a:pPr>
            <a:r>
              <a:t>7. 下のスキルに合わせる必要のない空間を提供したい。</a:t>
            </a:r>
          </a:p>
          <a:p>
            <a:pPr algn="l">
              <a:spcBef>
                <a:spcPts val="800"/>
              </a:spcBef>
              <a:defRPr sz="1700" b="0">
                <a:solidFill>
                  <a:srgbClr val="1A1A1A"/>
                </a:solidFill>
              </a:defRPr>
            </a:pPr>
            <a:r>
              <a:t>8. 挑戦する空間と安定した空間を提供したい。</a:t>
            </a:r>
          </a:p>
          <a:p>
            <a:pPr algn="l">
              <a:spcBef>
                <a:spcPts val="800"/>
              </a:spcBef>
              <a:defRPr sz="1700" b="0">
                <a:solidFill>
                  <a:srgbClr val="1A1A1A"/>
                </a:solidFill>
              </a:defRPr>
            </a:pPr>
            <a:r>
              <a:t>9. 部外者はシステムの現場を理解する気はないものである。</a:t>
            </a:r>
          </a:p>
          <a:p>
            <a:pPr algn="l">
              <a:spcBef>
                <a:spcPts val="800"/>
              </a:spcBef>
              <a:defRPr sz="1700" b="0">
                <a:solidFill>
                  <a:srgbClr val="1A1A1A"/>
                </a:solidFill>
              </a:defRPr>
            </a:pPr>
            <a:r>
              <a:t>10. 他者に期待してはいけない。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2800" b="1">
                <a:solidFill>
                  <a:srgbClr val="FFFFFF"/>
                </a:solidFill>
              </a:defRPr>
            </a:pPr>
            <a:r>
              <a:t>II. 精神分析的観点 — 昇華（Sublimation）</a:t>
            </a:r>
          </a:p>
        </p:txBody>
      </p:sp>
      <p:sp>
        <p:nvSpPr>
          <p:cNvPr id="4" name="TextBox 3"/>
          <p:cNvSpPr txBox="1"/>
          <p:nvPr/>
        </p:nvSpPr>
        <p:spPr>
          <a:xfrm>
            <a:off x="731520" y="1371600"/>
            <a:ext cx="5029200" cy="457200"/>
          </a:xfrm>
          <a:prstGeom prst="rect">
            <a:avLst/>
          </a:prstGeom>
          <a:noFill/>
        </p:spPr>
        <p:txBody>
          <a:bodyPr wrap="square">
            <a:spAutoFit/>
          </a:bodyPr>
          <a:lstStyle/>
          <a:p>
            <a:pPr algn="l">
              <a:defRPr sz="2200" b="1">
                <a:solidFill>
                  <a:srgbClr val="2C3E50"/>
                </a:solidFill>
              </a:defRPr>
            </a:pPr>
            <a:r>
              <a:t>防衛機制としてのk1s0</a:t>
            </a:r>
          </a:p>
        </p:txBody>
      </p:sp>
      <p:sp>
        <p:nvSpPr>
          <p:cNvPr id="5" name="TextBox 4"/>
          <p:cNvSpPr txBox="1"/>
          <p:nvPr/>
        </p:nvSpPr>
        <p:spPr>
          <a:xfrm>
            <a:off x="731520" y="2011680"/>
            <a:ext cx="5029200" cy="4114800"/>
          </a:xfrm>
          <a:prstGeom prst="rect">
            <a:avLst/>
          </a:prstGeom>
          <a:noFill/>
        </p:spPr>
        <p:txBody>
          <a:bodyPr wrap="square">
            <a:spAutoFit/>
          </a:bodyPr>
          <a:lstStyle/>
          <a:p>
            <a:pPr algn="l">
              <a:defRPr sz="1600" b="0">
                <a:solidFill>
                  <a:srgbClr val="1A1A1A"/>
                </a:solidFill>
              </a:defRPr>
            </a:pPr>
            <a:r>
              <a:t>「他者に期待してはいけない」は、繰り返し期待し裏切られた経験の反復強迫の果てに到達した防衛的結論。</a:t>
            </a:r>
          </a:p>
          <a:p>
            <a:pPr algn="l">
              <a:spcBef>
                <a:spcPts val="600"/>
              </a:spcBef>
              <a:defRPr sz="1000" b="0">
                <a:solidFill>
                  <a:srgbClr val="1A1A1A"/>
                </a:solidFill>
              </a:defRPr>
            </a:pPr>
          </a:p>
          <a:p>
            <a:pPr algn="l">
              <a:spcBef>
                <a:spcPts val="600"/>
              </a:spcBef>
              <a:defRPr sz="1600" b="0">
                <a:solidFill>
                  <a:srgbClr val="1A1A1A"/>
                </a:solidFill>
              </a:defRPr>
            </a:pPr>
            <a:r>
              <a:t>対象関係論（クライン）：「良い対象」への信頼が破壊され、他者を信頼対象から除外する妄想-分裂ポジション的世界認識に意識的に移行。</a:t>
            </a:r>
          </a:p>
          <a:p>
            <a:pPr algn="l">
              <a:spcBef>
                <a:spcPts val="600"/>
              </a:spcBef>
              <a:defRPr sz="1000" b="0">
                <a:solidFill>
                  <a:srgbClr val="1A1A1A"/>
                </a:solidFill>
              </a:defRPr>
            </a:pPr>
          </a:p>
          <a:p>
            <a:pPr algn="l">
              <a:spcBef>
                <a:spcPts val="600"/>
              </a:spcBef>
              <a:defRPr sz="1600" b="0">
                <a:solidFill>
                  <a:srgbClr val="1A1A1A"/>
                </a:solidFill>
              </a:defRPr>
            </a:pPr>
            <a:r>
              <a:t>しかし病理的退行ではなく、意図的な設計判断として外在化。内的な傷つきをk1s0という外的構造物に昇華している。</a:t>
            </a:r>
          </a:p>
          <a:p>
            <a:pPr algn="l">
              <a:spcBef>
                <a:spcPts val="600"/>
              </a:spcBef>
              <a:defRPr sz="1000" b="0">
                <a:solidFill>
                  <a:srgbClr val="1A1A1A"/>
                </a:solidFill>
              </a:defRPr>
            </a:pPr>
          </a:p>
          <a:p>
            <a:pPr algn="l">
              <a:spcBef>
                <a:spcPts val="600"/>
              </a:spcBef>
              <a:defRPr sz="1700" b="1">
                <a:solidFill>
                  <a:srgbClr val="3498DB"/>
                </a:solidFill>
              </a:defRPr>
            </a:pPr>
            <a:r>
              <a:t>→ フロイト的に最も成熟した防衛機制「昇華」の典型例</a:t>
            </a:r>
          </a:p>
        </p:txBody>
      </p:sp>
      <p:sp>
        <p:nvSpPr>
          <p:cNvPr id="6" name="Rectangle 5"/>
          <p:cNvSpPr/>
          <p:nvPr/>
        </p:nvSpPr>
        <p:spPr>
          <a:xfrm>
            <a:off x="6400800" y="1371600"/>
            <a:ext cx="5029200" cy="457200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554480"/>
            <a:ext cx="4572000" cy="457200"/>
          </a:xfrm>
          <a:prstGeom prst="rect">
            <a:avLst/>
          </a:prstGeom>
          <a:noFill/>
        </p:spPr>
        <p:txBody>
          <a:bodyPr wrap="square">
            <a:spAutoFit/>
          </a:bodyPr>
          <a:lstStyle/>
          <a:p>
            <a:pPr algn="l">
              <a:defRPr sz="2000" b="1">
                <a:solidFill>
                  <a:srgbClr val="2C3E50"/>
                </a:solidFill>
              </a:defRPr>
            </a:pPr>
            <a:r>
              <a:t>昇華のメカニズム</a:t>
            </a:r>
          </a:p>
        </p:txBody>
      </p:sp>
      <p:sp>
        <p:nvSpPr>
          <p:cNvPr id="8" name="TextBox 7"/>
          <p:cNvSpPr txBox="1"/>
          <p:nvPr/>
        </p:nvSpPr>
        <p:spPr>
          <a:xfrm>
            <a:off x="6675120" y="2194560"/>
            <a:ext cx="4572000" cy="3474720"/>
          </a:xfrm>
          <a:prstGeom prst="rect">
            <a:avLst/>
          </a:prstGeom>
          <a:noFill/>
        </p:spPr>
        <p:txBody>
          <a:bodyPr wrap="square">
            <a:spAutoFit/>
          </a:bodyPr>
          <a:lstStyle/>
          <a:p>
            <a:pPr algn="l">
              <a:defRPr sz="1600" b="1">
                <a:solidFill>
                  <a:srgbClr val="E74C3C"/>
                </a:solidFill>
              </a:defRPr>
            </a:pPr>
            <a:r>
              <a:t>内的苦痛（他者への失望）</a:t>
            </a:r>
          </a:p>
          <a:p>
            <a:pPr algn="l">
              <a:spcBef>
                <a:spcPts val="600"/>
              </a:spcBef>
              <a:defRPr sz="1600" b="0">
                <a:solidFill>
                  <a:srgbClr val="7F8C8D"/>
                </a:solidFill>
              </a:defRPr>
            </a:pPr>
            <a:r>
              <a:t>　　↓</a:t>
            </a:r>
          </a:p>
          <a:p>
            <a:pPr algn="l">
              <a:spcBef>
                <a:spcPts val="600"/>
              </a:spcBef>
              <a:defRPr sz="1600" b="1">
                <a:solidFill>
                  <a:srgbClr val="E74C3C"/>
                </a:solidFill>
              </a:defRPr>
            </a:pPr>
            <a:r>
              <a:t>防衛的結論（期待の放棄）</a:t>
            </a:r>
          </a:p>
          <a:p>
            <a:pPr algn="l">
              <a:spcBef>
                <a:spcPts val="600"/>
              </a:spcBef>
              <a:defRPr sz="1600" b="0">
                <a:solidFill>
                  <a:srgbClr val="7F8C8D"/>
                </a:solidFill>
              </a:defRPr>
            </a:pPr>
            <a:r>
              <a:t>　　↓</a:t>
            </a:r>
          </a:p>
          <a:p>
            <a:pPr algn="l">
              <a:spcBef>
                <a:spcPts val="600"/>
              </a:spcBef>
              <a:defRPr sz="1600" b="1">
                <a:solidFill>
                  <a:srgbClr val="3498DB"/>
                </a:solidFill>
              </a:defRPr>
            </a:pPr>
            <a:r>
              <a:t>外在化（k1s0の設計思想へ）</a:t>
            </a:r>
          </a:p>
          <a:p>
            <a:pPr algn="l">
              <a:spcBef>
                <a:spcPts val="600"/>
              </a:spcBef>
              <a:defRPr sz="1600" b="0">
                <a:solidFill>
                  <a:srgbClr val="7F8C8D"/>
                </a:solidFill>
              </a:defRPr>
            </a:pPr>
            <a:r>
              <a:t>　　↓</a:t>
            </a:r>
          </a:p>
          <a:p>
            <a:pPr algn="l">
              <a:spcBef>
                <a:spcPts val="600"/>
              </a:spcBef>
              <a:defRPr sz="1600" b="1">
                <a:solidFill>
                  <a:srgbClr val="27AE60"/>
                </a:solidFill>
              </a:defRPr>
            </a:pPr>
            <a:r>
              <a:t>昇華（社会的に有用な創造物）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2800" b="1">
                <a:solidFill>
                  <a:srgbClr val="FFFFFF"/>
                </a:solidFill>
              </a:defRPr>
            </a:pPr>
            <a:r>
              <a:t>III. アドラー心理学 — 劣等感と補償・共同体感覚</a:t>
            </a:r>
          </a:p>
        </p:txBody>
      </p:sp>
      <p:sp>
        <p:nvSpPr>
          <p:cNvPr id="4" name="Rectangle 3"/>
          <p:cNvSpPr/>
          <p:nvPr/>
        </p:nvSpPr>
        <p:spPr>
          <a:xfrm>
            <a:off x="731520" y="1371600"/>
            <a:ext cx="5029200" cy="228600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572000" cy="365760"/>
          </a:xfrm>
          <a:prstGeom prst="rect">
            <a:avLst/>
          </a:prstGeom>
          <a:noFill/>
        </p:spPr>
        <p:txBody>
          <a:bodyPr wrap="square">
            <a:spAutoFit/>
          </a:bodyPr>
          <a:lstStyle/>
          <a:p>
            <a:pPr algn="l">
              <a:defRPr sz="2000" b="1">
                <a:solidFill>
                  <a:srgbClr val="2C3E50"/>
                </a:solidFill>
              </a:defRPr>
            </a:pPr>
            <a:r>
              <a:t>劣等感の源泉</a:t>
            </a:r>
          </a:p>
        </p:txBody>
      </p:sp>
      <p:sp>
        <p:nvSpPr>
          <p:cNvPr id="6" name="TextBox 5"/>
          <p:cNvSpPr txBox="1"/>
          <p:nvPr/>
        </p:nvSpPr>
        <p:spPr>
          <a:xfrm>
            <a:off x="914400" y="2103120"/>
            <a:ext cx="4572000" cy="1371600"/>
          </a:xfrm>
          <a:prstGeom prst="rect">
            <a:avLst/>
          </a:prstGeom>
          <a:noFill/>
        </p:spPr>
        <p:txBody>
          <a:bodyPr wrap="square">
            <a:spAutoFit/>
          </a:bodyPr>
          <a:lstStyle/>
          <a:p>
            <a:pPr algn="l">
              <a:defRPr sz="1600" b="0">
                <a:solidFill>
                  <a:srgbClr val="1A1A1A"/>
                </a:solidFill>
              </a:defRPr>
            </a:pPr>
            <a:r>
              <a:t>自身の能力ではなく「環境の無秩序」に対する劣等感。理想の開発環境が他者によって実現されないという深い無力感。</a:t>
            </a:r>
          </a:p>
        </p:txBody>
      </p:sp>
      <p:sp>
        <p:nvSpPr>
          <p:cNvPr id="7" name="Rectangle 6"/>
          <p:cNvSpPr/>
          <p:nvPr/>
        </p:nvSpPr>
        <p:spPr>
          <a:xfrm>
            <a:off x="6400800" y="1371600"/>
            <a:ext cx="5029200" cy="228600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554480"/>
            <a:ext cx="4572000" cy="365760"/>
          </a:xfrm>
          <a:prstGeom prst="rect">
            <a:avLst/>
          </a:prstGeom>
          <a:noFill/>
        </p:spPr>
        <p:txBody>
          <a:bodyPr wrap="square">
            <a:spAutoFit/>
          </a:bodyPr>
          <a:lstStyle/>
          <a:p>
            <a:pPr algn="l">
              <a:defRPr sz="2000" b="1">
                <a:solidFill>
                  <a:srgbClr val="2C3E50"/>
                </a:solidFill>
              </a:defRPr>
            </a:pPr>
            <a:r>
              <a:t>補償行動</a:t>
            </a:r>
          </a:p>
        </p:txBody>
      </p:sp>
      <p:sp>
        <p:nvSpPr>
          <p:cNvPr id="9" name="TextBox 8"/>
          <p:cNvSpPr txBox="1"/>
          <p:nvPr/>
        </p:nvSpPr>
        <p:spPr>
          <a:xfrm>
            <a:off x="6583680" y="2103120"/>
            <a:ext cx="4572000" cy="1371600"/>
          </a:xfrm>
          <a:prstGeom prst="rect">
            <a:avLst/>
          </a:prstGeom>
          <a:noFill/>
        </p:spPr>
        <p:txBody>
          <a:bodyPr wrap="square">
            <a:spAutoFit/>
          </a:bodyPr>
          <a:lstStyle/>
          <a:p>
            <a:pPr algn="l">
              <a:defRPr sz="1600" b="0">
                <a:solidFill>
                  <a:srgbClr val="1A1A1A"/>
                </a:solidFill>
              </a:defRPr>
            </a:pPr>
            <a:r>
              <a:t>k1s0の構築 = 社会的に有用な補償行動。個人的な怒りや失望を、他者も使えるプラットフォームとして社会に還元。</a:t>
            </a:r>
          </a:p>
        </p:txBody>
      </p:sp>
      <p:sp>
        <p:nvSpPr>
          <p:cNvPr id="10" name="Rectangle 9"/>
          <p:cNvSpPr/>
          <p:nvPr/>
        </p:nvSpPr>
        <p:spPr>
          <a:xfrm>
            <a:off x="731520" y="3931920"/>
            <a:ext cx="10698480" cy="2560320"/>
          </a:xfrm>
          <a:prstGeom prst="rect">
            <a:avLst/>
          </a:prstGeom>
          <a:solidFill>
            <a:srgbClr val="FD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800"/>
            <a:ext cx="10058400" cy="365760"/>
          </a:xfrm>
          <a:prstGeom prst="rect">
            <a:avLst/>
          </a:prstGeom>
          <a:noFill/>
        </p:spPr>
        <p:txBody>
          <a:bodyPr wrap="square">
            <a:spAutoFit/>
          </a:bodyPr>
          <a:lstStyle/>
          <a:p>
            <a:pPr algn="l">
              <a:defRPr sz="2000" b="1">
                <a:solidFill>
                  <a:srgbClr val="E74C3C"/>
                </a:solidFill>
              </a:defRPr>
            </a:pPr>
            <a:r>
              <a:t>共同体感覚との緊張</a:t>
            </a:r>
          </a:p>
        </p:txBody>
      </p:sp>
      <p:sp>
        <p:nvSpPr>
          <p:cNvPr id="12" name="TextBox 11"/>
          <p:cNvSpPr txBox="1"/>
          <p:nvPr/>
        </p:nvSpPr>
        <p:spPr>
          <a:xfrm>
            <a:off x="914400" y="4663440"/>
            <a:ext cx="10058400" cy="1645920"/>
          </a:xfrm>
          <a:prstGeom prst="rect">
            <a:avLst/>
          </a:prstGeom>
          <a:noFill/>
        </p:spPr>
        <p:txBody>
          <a:bodyPr wrap="square">
            <a:spAutoFit/>
          </a:bodyPr>
          <a:lstStyle/>
          <a:p>
            <a:pPr algn="l">
              <a:defRPr sz="1600" b="0">
                <a:solidFill>
                  <a:srgbClr val="1A1A1A"/>
                </a:solidFill>
              </a:defRPr>
            </a:pPr>
            <a:r>
              <a:t>「他者に期待しない」と言いながら、膨大なドキュメントを書き、他者が使うことを前提として設計している。</a:t>
            </a:r>
          </a:p>
          <a:p>
            <a:pPr algn="l">
              <a:spcBef>
                <a:spcPts val="600"/>
              </a:spcBef>
              <a:defRPr sz="1000" b="0">
                <a:solidFill>
                  <a:srgbClr val="1A1A1A"/>
                </a:solidFill>
              </a:defRPr>
            </a:pPr>
          </a:p>
          <a:p>
            <a:pPr algn="l">
              <a:spcBef>
                <a:spcPts val="600"/>
              </a:spcBef>
              <a:defRPr sz="1700" b="1">
                <a:solidFill>
                  <a:srgbClr val="E74C3C"/>
                </a:solidFill>
              </a:defRPr>
            </a:pPr>
            <a:r>
              <a:t>→ 矛盾ではなく「期待しないが、機会は提供する」という独自の共同体感覚</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2800" b="1">
                <a:solidFill>
                  <a:srgbClr val="FFFFFF"/>
                </a:solidFill>
              </a:defRPr>
            </a:pPr>
            <a:r>
              <a:t>IV. マズローの欲求階層 — 下位欲求を飛び越える使命感</a:t>
            </a:r>
          </a:p>
        </p:txBody>
      </p:sp>
      <p:sp>
        <p:nvSpPr>
          <p:cNvPr id="4" name="Rectangle 3"/>
          <p:cNvSpPr/>
          <p:nvPr/>
        </p:nvSpPr>
        <p:spPr>
          <a:xfrm>
            <a:off x="731520" y="1371600"/>
            <a:ext cx="2286000" cy="10972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63040"/>
            <a:ext cx="2103120" cy="914400"/>
          </a:xfrm>
          <a:prstGeom prst="rect">
            <a:avLst/>
          </a:prstGeom>
          <a:noFill/>
        </p:spPr>
        <p:txBody>
          <a:bodyPr wrap="square">
            <a:spAutoFit/>
          </a:bodyPr>
          <a:lstStyle/>
          <a:p>
            <a:pPr algn="ctr">
              <a:defRPr sz="1800" b="1">
                <a:solidFill>
                  <a:srgbClr val="FFFFFF"/>
                </a:solidFill>
              </a:defRPr>
            </a:pPr>
            <a:r>
              <a:t>自己実現</a:t>
            </a:r>
          </a:p>
        </p:txBody>
      </p:sp>
      <p:sp>
        <p:nvSpPr>
          <p:cNvPr id="6" name="TextBox 5"/>
          <p:cNvSpPr txBox="1"/>
          <p:nvPr/>
        </p:nvSpPr>
        <p:spPr>
          <a:xfrm>
            <a:off x="3200400" y="1463040"/>
            <a:ext cx="5943600" cy="914400"/>
          </a:xfrm>
          <a:prstGeom prst="rect">
            <a:avLst/>
          </a:prstGeom>
          <a:noFill/>
        </p:spPr>
        <p:txBody>
          <a:bodyPr wrap="square">
            <a:spAutoFit/>
          </a:bodyPr>
          <a:lstStyle/>
          <a:p>
            <a:pPr algn="l">
              <a:defRPr sz="1500" b="0">
                <a:solidFill>
                  <a:srgbClr val="1A1A1A"/>
                </a:solidFill>
              </a:defRPr>
            </a:pPr>
            <a:r>
              <a:t>「挑戦する空間と安定した空間を提供したい」</a:t>
            </a:r>
          </a:p>
        </p:txBody>
      </p:sp>
      <p:sp>
        <p:nvSpPr>
          <p:cNvPr id="7" name="TextBox 6"/>
          <p:cNvSpPr txBox="1"/>
          <p:nvPr/>
        </p:nvSpPr>
        <p:spPr>
          <a:xfrm>
            <a:off x="9601200" y="1463040"/>
            <a:ext cx="1828800" cy="914400"/>
          </a:xfrm>
          <a:prstGeom prst="rect">
            <a:avLst/>
          </a:prstGeom>
          <a:noFill/>
        </p:spPr>
        <p:txBody>
          <a:bodyPr wrap="square">
            <a:spAutoFit/>
          </a:bodyPr>
          <a:lstStyle/>
          <a:p>
            <a:pPr algn="ctr">
              <a:defRPr sz="1600" b="1">
                <a:solidFill>
                  <a:srgbClr val="27AE60"/>
                </a:solidFill>
              </a:defRPr>
            </a:pPr>
            <a:r>
              <a:t>活性化</a:t>
            </a:r>
          </a:p>
        </p:txBody>
      </p:sp>
      <p:sp>
        <p:nvSpPr>
          <p:cNvPr id="8" name="Rectangle 7"/>
          <p:cNvSpPr/>
          <p:nvPr/>
        </p:nvSpPr>
        <p:spPr>
          <a:xfrm>
            <a:off x="731520" y="2606040"/>
            <a:ext cx="2286000" cy="10972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97480"/>
            <a:ext cx="2103120" cy="914400"/>
          </a:xfrm>
          <a:prstGeom prst="rect">
            <a:avLst/>
          </a:prstGeom>
          <a:noFill/>
        </p:spPr>
        <p:txBody>
          <a:bodyPr wrap="square">
            <a:spAutoFit/>
          </a:bodyPr>
          <a:lstStyle/>
          <a:p>
            <a:pPr algn="ctr">
              <a:defRPr sz="1800" b="1">
                <a:solidFill>
                  <a:srgbClr val="FFFFFF"/>
                </a:solidFill>
              </a:defRPr>
            </a:pPr>
            <a:r>
              <a:t>承認欲求</a:t>
            </a:r>
          </a:p>
        </p:txBody>
      </p:sp>
      <p:sp>
        <p:nvSpPr>
          <p:cNvPr id="10" name="TextBox 9"/>
          <p:cNvSpPr txBox="1"/>
          <p:nvPr/>
        </p:nvSpPr>
        <p:spPr>
          <a:xfrm>
            <a:off x="3200400" y="2697480"/>
            <a:ext cx="5943600" cy="914400"/>
          </a:xfrm>
          <a:prstGeom prst="rect">
            <a:avLst/>
          </a:prstGeom>
          <a:noFill/>
        </p:spPr>
        <p:txBody>
          <a:bodyPr wrap="square">
            <a:spAutoFit/>
          </a:bodyPr>
          <a:lstStyle/>
          <a:p>
            <a:pPr algn="l">
              <a:defRPr sz="1500" b="0">
                <a:solidFill>
                  <a:srgbClr val="1A1A1A"/>
                </a:solidFill>
              </a:defRPr>
            </a:pPr>
            <a:r>
              <a:t>直接的な言及なし</a:t>
            </a:r>
          </a:p>
        </p:txBody>
      </p:sp>
      <p:sp>
        <p:nvSpPr>
          <p:cNvPr id="11" name="TextBox 10"/>
          <p:cNvSpPr txBox="1"/>
          <p:nvPr/>
        </p:nvSpPr>
        <p:spPr>
          <a:xfrm>
            <a:off x="9601200" y="2697480"/>
            <a:ext cx="1828800" cy="914400"/>
          </a:xfrm>
          <a:prstGeom prst="rect">
            <a:avLst/>
          </a:prstGeom>
          <a:noFill/>
        </p:spPr>
        <p:txBody>
          <a:bodyPr wrap="square">
            <a:spAutoFit/>
          </a:bodyPr>
          <a:lstStyle/>
          <a:p>
            <a:pPr algn="ctr">
              <a:defRPr sz="1600" b="1">
                <a:solidFill>
                  <a:srgbClr val="E74C3C"/>
                </a:solidFill>
              </a:defRPr>
            </a:pPr>
            <a:r>
              <a:t>抑圧</a:t>
            </a:r>
          </a:p>
        </p:txBody>
      </p:sp>
      <p:sp>
        <p:nvSpPr>
          <p:cNvPr id="12" name="Rectangle 11"/>
          <p:cNvSpPr/>
          <p:nvPr/>
        </p:nvSpPr>
        <p:spPr>
          <a:xfrm>
            <a:off x="731520" y="3840480"/>
            <a:ext cx="2286000" cy="10972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931920"/>
            <a:ext cx="2103120" cy="914400"/>
          </a:xfrm>
          <a:prstGeom prst="rect">
            <a:avLst/>
          </a:prstGeom>
          <a:noFill/>
        </p:spPr>
        <p:txBody>
          <a:bodyPr wrap="square">
            <a:spAutoFit/>
          </a:bodyPr>
          <a:lstStyle/>
          <a:p>
            <a:pPr algn="ctr">
              <a:defRPr sz="1800" b="1">
                <a:solidFill>
                  <a:srgbClr val="FFFFFF"/>
                </a:solidFill>
              </a:defRPr>
            </a:pPr>
            <a:r>
              <a:t>所属と愛</a:t>
            </a:r>
          </a:p>
        </p:txBody>
      </p:sp>
      <p:sp>
        <p:nvSpPr>
          <p:cNvPr id="14" name="TextBox 13"/>
          <p:cNvSpPr txBox="1"/>
          <p:nvPr/>
        </p:nvSpPr>
        <p:spPr>
          <a:xfrm>
            <a:off x="3200400" y="3931920"/>
            <a:ext cx="5943600" cy="914400"/>
          </a:xfrm>
          <a:prstGeom prst="rect">
            <a:avLst/>
          </a:prstGeom>
          <a:noFill/>
        </p:spPr>
        <p:txBody>
          <a:bodyPr wrap="square">
            <a:spAutoFit/>
          </a:bodyPr>
          <a:lstStyle/>
          <a:p>
            <a:pPr algn="l">
              <a:defRPr sz="1500" b="0">
                <a:solidFill>
                  <a:srgbClr val="1A1A1A"/>
                </a:solidFill>
              </a:defRPr>
            </a:pPr>
            <a:r>
              <a:t>「部外者は理解する気はない」「他者に期待するな」</a:t>
            </a:r>
          </a:p>
        </p:txBody>
      </p:sp>
      <p:sp>
        <p:nvSpPr>
          <p:cNvPr id="15" name="TextBox 14"/>
          <p:cNvSpPr txBox="1"/>
          <p:nvPr/>
        </p:nvSpPr>
        <p:spPr>
          <a:xfrm>
            <a:off x="9601200" y="3931920"/>
            <a:ext cx="1828800" cy="914400"/>
          </a:xfrm>
          <a:prstGeom prst="rect">
            <a:avLst/>
          </a:prstGeom>
          <a:noFill/>
        </p:spPr>
        <p:txBody>
          <a:bodyPr wrap="square">
            <a:spAutoFit/>
          </a:bodyPr>
          <a:lstStyle/>
          <a:p>
            <a:pPr algn="ctr">
              <a:defRPr sz="1600" b="1">
                <a:solidFill>
                  <a:srgbClr val="E74C3C"/>
                </a:solidFill>
              </a:defRPr>
            </a:pPr>
            <a:r>
              <a:t>放棄</a:t>
            </a:r>
          </a:p>
        </p:txBody>
      </p:sp>
      <p:sp>
        <p:nvSpPr>
          <p:cNvPr id="16" name="Rectangle 15"/>
          <p:cNvSpPr/>
          <p:nvPr/>
        </p:nvSpPr>
        <p:spPr>
          <a:xfrm>
            <a:off x="731520" y="5074920"/>
            <a:ext cx="2286000" cy="10972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166360"/>
            <a:ext cx="2103120" cy="914400"/>
          </a:xfrm>
          <a:prstGeom prst="rect">
            <a:avLst/>
          </a:prstGeom>
          <a:noFill/>
        </p:spPr>
        <p:txBody>
          <a:bodyPr wrap="square">
            <a:spAutoFit/>
          </a:bodyPr>
          <a:lstStyle/>
          <a:p>
            <a:pPr algn="ctr">
              <a:defRPr sz="1800" b="1">
                <a:solidFill>
                  <a:srgbClr val="FFFFFF"/>
                </a:solidFill>
              </a:defRPr>
            </a:pPr>
            <a:r>
              <a:t>安全欲求</a:t>
            </a:r>
          </a:p>
        </p:txBody>
      </p:sp>
      <p:sp>
        <p:nvSpPr>
          <p:cNvPr id="18" name="TextBox 17"/>
          <p:cNvSpPr txBox="1"/>
          <p:nvPr/>
        </p:nvSpPr>
        <p:spPr>
          <a:xfrm>
            <a:off x="3200400" y="5166360"/>
            <a:ext cx="5943600" cy="914400"/>
          </a:xfrm>
          <a:prstGeom prst="rect">
            <a:avLst/>
          </a:prstGeom>
          <a:noFill/>
        </p:spPr>
        <p:txBody>
          <a:bodyPr wrap="square">
            <a:spAutoFit/>
          </a:bodyPr>
          <a:lstStyle/>
          <a:p>
            <a:pPr algn="l">
              <a:defRPr sz="1500" b="0">
                <a:solidFill>
                  <a:srgbClr val="1A1A1A"/>
                </a:solidFill>
              </a:defRPr>
            </a:pPr>
            <a:r>
              <a:t>「間違ったものを作らせない」「自由とカオスは紙一重」</a:t>
            </a:r>
          </a:p>
        </p:txBody>
      </p:sp>
      <p:sp>
        <p:nvSpPr>
          <p:cNvPr id="19" name="TextBox 18"/>
          <p:cNvSpPr txBox="1"/>
          <p:nvPr/>
        </p:nvSpPr>
        <p:spPr>
          <a:xfrm>
            <a:off x="9601200" y="5166360"/>
            <a:ext cx="1828800" cy="914400"/>
          </a:xfrm>
          <a:prstGeom prst="rect">
            <a:avLst/>
          </a:prstGeom>
          <a:noFill/>
        </p:spPr>
        <p:txBody>
          <a:bodyPr wrap="square">
            <a:spAutoFit/>
          </a:bodyPr>
          <a:lstStyle/>
          <a:p>
            <a:pPr algn="ctr">
              <a:defRPr sz="1600" b="1">
                <a:solidFill>
                  <a:srgbClr val="E74C3C"/>
                </a:solidFill>
              </a:defRPr>
            </a:pPr>
            <a:r>
              <a:t>未充足</a:t>
            </a:r>
          </a:p>
        </p:txBody>
      </p:sp>
      <p:sp>
        <p:nvSpPr>
          <p:cNvPr id="20" name="TextBox 19"/>
          <p:cNvSpPr txBox="1"/>
          <p:nvPr/>
        </p:nvSpPr>
        <p:spPr>
          <a:xfrm>
            <a:off x="731520" y="5669280"/>
            <a:ext cx="10515600" cy="914400"/>
          </a:xfrm>
          <a:prstGeom prst="rect">
            <a:avLst/>
          </a:prstGeom>
          <a:noFill/>
        </p:spPr>
        <p:txBody>
          <a:bodyPr wrap="square">
            <a:spAutoFit/>
          </a:bodyPr>
          <a:lstStyle/>
          <a:p>
            <a:pPr algn="l">
              <a:defRPr sz="1700" b="1">
                <a:solidFill>
                  <a:srgbClr val="2C3E50"/>
                </a:solidFill>
              </a:defRPr>
            </a:pPr>
            <a:r>
              <a:t>→ マズロー晩年の修正理論「欲求階層の逆転」に該当。強い使命感が下位欲求を飛び越える。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2800" b="1">
                <a:solidFill>
                  <a:srgbClr val="FFFFFF"/>
                </a:solidFill>
              </a:defRPr>
            </a:pPr>
            <a:r>
              <a:t>V. ユング分析心理学 — ペルソナ・シャドウ・元型</a:t>
            </a:r>
          </a:p>
        </p:txBody>
      </p:sp>
      <p:sp>
        <p:nvSpPr>
          <p:cNvPr id="4" name="Rectangle 3"/>
          <p:cNvSpPr/>
          <p:nvPr/>
        </p:nvSpPr>
        <p:spPr>
          <a:xfrm>
            <a:off x="731520" y="1371600"/>
            <a:ext cx="5029200" cy="228600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572000" cy="365760"/>
          </a:xfrm>
          <a:prstGeom prst="rect">
            <a:avLst/>
          </a:prstGeom>
          <a:noFill/>
        </p:spPr>
        <p:txBody>
          <a:bodyPr wrap="square">
            <a:spAutoFit/>
          </a:bodyPr>
          <a:lstStyle/>
          <a:p>
            <a:pPr algn="l">
              <a:defRPr sz="2000" b="1">
                <a:solidFill>
                  <a:srgbClr val="3498DB"/>
                </a:solidFill>
              </a:defRPr>
            </a:pPr>
            <a:r>
              <a:t>ペルソナ（外的人格）</a:t>
            </a:r>
          </a:p>
        </p:txBody>
      </p:sp>
      <p:sp>
        <p:nvSpPr>
          <p:cNvPr id="6" name="TextBox 5"/>
          <p:cNvSpPr txBox="1"/>
          <p:nvPr/>
        </p:nvSpPr>
        <p:spPr>
          <a:xfrm>
            <a:off x="914400" y="2103120"/>
            <a:ext cx="4572000" cy="1371600"/>
          </a:xfrm>
          <a:prstGeom prst="rect">
            <a:avLst/>
          </a:prstGeom>
          <a:noFill/>
        </p:spPr>
        <p:txBody>
          <a:bodyPr wrap="square">
            <a:spAutoFit/>
          </a:bodyPr>
          <a:lstStyle/>
          <a:p>
            <a:pPr algn="l">
              <a:defRPr sz="1600" b="0">
                <a:solidFill>
                  <a:srgbClr val="1A1A1A"/>
                </a:solidFill>
              </a:defRPr>
            </a:pPr>
            <a:r>
              <a:t>極めて整然とした秩序。11のLintルール、Clean Architectureの厳格な依存方向、managed/protected分離。</a:t>
            </a:r>
          </a:p>
        </p:txBody>
      </p:sp>
      <p:sp>
        <p:nvSpPr>
          <p:cNvPr id="7" name="Rectangle 6"/>
          <p:cNvSpPr/>
          <p:nvPr/>
        </p:nvSpPr>
        <p:spPr>
          <a:xfrm>
            <a:off x="6400800" y="1371600"/>
            <a:ext cx="5029200" cy="2286000"/>
          </a:xfrm>
          <a:prstGeom prst="rect">
            <a:avLst/>
          </a:prstGeom>
          <a:solidFill>
            <a:srgbClr val="FD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554480"/>
            <a:ext cx="4572000" cy="365760"/>
          </a:xfrm>
          <a:prstGeom prst="rect">
            <a:avLst/>
          </a:prstGeom>
          <a:noFill/>
        </p:spPr>
        <p:txBody>
          <a:bodyPr wrap="square">
            <a:spAutoFit/>
          </a:bodyPr>
          <a:lstStyle/>
          <a:p>
            <a:pPr algn="l">
              <a:defRPr sz="2000" b="1">
                <a:solidFill>
                  <a:srgbClr val="E74C3C"/>
                </a:solidFill>
              </a:defRPr>
            </a:pPr>
            <a:r>
              <a:t>シャドウ（影）</a:t>
            </a:r>
          </a:p>
        </p:txBody>
      </p:sp>
      <p:sp>
        <p:nvSpPr>
          <p:cNvPr id="9" name="TextBox 8"/>
          <p:cNvSpPr txBox="1"/>
          <p:nvPr/>
        </p:nvSpPr>
        <p:spPr>
          <a:xfrm>
            <a:off x="6583680" y="2103120"/>
            <a:ext cx="4572000" cy="1371600"/>
          </a:xfrm>
          <a:prstGeom prst="rect">
            <a:avLst/>
          </a:prstGeom>
          <a:noFill/>
        </p:spPr>
        <p:txBody>
          <a:bodyPr wrap="square">
            <a:spAutoFit/>
          </a:bodyPr>
          <a:lstStyle/>
          <a:p>
            <a:pPr algn="l">
              <a:defRPr sz="1600" b="0">
                <a:solidFill>
                  <a:srgbClr val="1A1A1A"/>
                </a:solidFill>
              </a:defRPr>
            </a:pPr>
            <a:r>
              <a:t>自身の中にある秩序を壊したいという衝動。6言語ソロ実装という限界突破的行動がその表出。内的カオスを外的秩序で制御。</a:t>
            </a:r>
          </a:p>
        </p:txBody>
      </p:sp>
      <p:sp>
        <p:nvSpPr>
          <p:cNvPr id="10" name="Rectangle 9"/>
          <p:cNvSpPr/>
          <p:nvPr/>
        </p:nvSpPr>
        <p:spPr>
          <a:xfrm>
            <a:off x="731520" y="3931920"/>
            <a:ext cx="5029200" cy="228600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800"/>
            <a:ext cx="4572000" cy="365760"/>
          </a:xfrm>
          <a:prstGeom prst="rect">
            <a:avLst/>
          </a:prstGeom>
          <a:noFill/>
        </p:spPr>
        <p:txBody>
          <a:bodyPr wrap="square">
            <a:spAutoFit/>
          </a:bodyPr>
          <a:lstStyle/>
          <a:p>
            <a:pPr algn="l">
              <a:defRPr sz="2000" b="1">
                <a:solidFill>
                  <a:srgbClr val="2C3E50"/>
                </a:solidFill>
              </a:defRPr>
            </a:pPr>
            <a:r>
              <a:t>老賢者（Senex）</a:t>
            </a:r>
          </a:p>
        </p:txBody>
      </p:sp>
      <p:sp>
        <p:nvSpPr>
          <p:cNvPr id="12" name="TextBox 11"/>
          <p:cNvSpPr txBox="1"/>
          <p:nvPr/>
        </p:nvSpPr>
        <p:spPr>
          <a:xfrm>
            <a:off x="914400" y="4663440"/>
            <a:ext cx="4572000" cy="1371600"/>
          </a:xfrm>
          <a:prstGeom prst="rect">
            <a:avLst/>
          </a:prstGeom>
          <a:noFill/>
        </p:spPr>
        <p:txBody>
          <a:bodyPr wrap="square">
            <a:spAutoFit/>
          </a:bodyPr>
          <a:lstStyle/>
          <a:p>
            <a:pPr algn="l">
              <a:defRPr sz="1600" b="0">
                <a:solidFill>
                  <a:srgbClr val="1A1A1A"/>
                </a:solidFill>
              </a:defRPr>
            </a:pPr>
            <a:r>
              <a:t>哲学的箴言を書き記す行為。32歳にして40代の達観を持つ。</a:t>
            </a:r>
          </a:p>
        </p:txBody>
      </p:sp>
      <p:sp>
        <p:nvSpPr>
          <p:cNvPr id="13" name="Rectangle 12"/>
          <p:cNvSpPr/>
          <p:nvPr/>
        </p:nvSpPr>
        <p:spPr>
          <a:xfrm>
            <a:off x="6400800" y="3931920"/>
            <a:ext cx="5029200" cy="228600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4114800"/>
            <a:ext cx="4572000" cy="365760"/>
          </a:xfrm>
          <a:prstGeom prst="rect">
            <a:avLst/>
          </a:prstGeom>
          <a:noFill/>
        </p:spPr>
        <p:txBody>
          <a:bodyPr wrap="square">
            <a:spAutoFit/>
          </a:bodyPr>
          <a:lstStyle/>
          <a:p>
            <a:pPr algn="l">
              <a:defRPr sz="2000" b="1">
                <a:solidFill>
                  <a:srgbClr val="2C3E50"/>
                </a:solidFill>
              </a:defRPr>
            </a:pPr>
            <a:r>
              <a:t>永遠の少年（Puer Aeternus）</a:t>
            </a:r>
          </a:p>
        </p:txBody>
      </p:sp>
      <p:sp>
        <p:nvSpPr>
          <p:cNvPr id="15" name="TextBox 14"/>
          <p:cNvSpPr txBox="1"/>
          <p:nvPr/>
        </p:nvSpPr>
        <p:spPr>
          <a:xfrm>
            <a:off x="6583680" y="4663440"/>
            <a:ext cx="4572000" cy="1371600"/>
          </a:xfrm>
          <a:prstGeom prst="rect">
            <a:avLst/>
          </a:prstGeom>
          <a:noFill/>
        </p:spPr>
        <p:txBody>
          <a:bodyPr wrap="square">
            <a:spAutoFit/>
          </a:bodyPr>
          <a:lstStyle/>
          <a:p>
            <a:pPr algn="l">
              <a:defRPr sz="1600" b="0">
                <a:solidFill>
                  <a:srgbClr val="1A1A1A"/>
                </a:solidFill>
              </a:defRPr>
            </a:pPr>
            <a:r>
              <a:t>ソロで壮大なプラットフォームを構築する——無限の可能性を信じ、一人で世界を変えようとする衝動。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2800" b="1">
                <a:solidFill>
                  <a:srgbClr val="FFFFFF"/>
                </a:solidFill>
              </a:defRPr>
            </a:pPr>
            <a:r>
              <a:t>VI. 認知行動療法的観点 — スキーマ分析</a:t>
            </a:r>
          </a:p>
        </p:txBody>
      </p:sp>
      <p:sp>
        <p:nvSpPr>
          <p:cNvPr id="4" name="Rectangle 3"/>
          <p:cNvSpPr/>
          <p:nvPr/>
        </p:nvSpPr>
        <p:spPr>
          <a:xfrm>
            <a:off x="731520" y="1371600"/>
            <a:ext cx="2286000" cy="100584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2103120" cy="731520"/>
          </a:xfrm>
          <a:prstGeom prst="rect">
            <a:avLst/>
          </a:prstGeom>
          <a:noFill/>
        </p:spPr>
        <p:txBody>
          <a:bodyPr wrap="square">
            <a:spAutoFit/>
          </a:bodyPr>
          <a:lstStyle/>
          <a:p>
            <a:pPr algn="ctr">
              <a:defRPr sz="1700" b="1">
                <a:solidFill>
                  <a:srgbClr val="FFFFFF"/>
                </a:solidFill>
              </a:defRPr>
            </a:pPr>
            <a:r>
              <a:t>他者不信</a:t>
            </a:r>
          </a:p>
        </p:txBody>
      </p:sp>
      <p:sp>
        <p:nvSpPr>
          <p:cNvPr id="6" name="TextBox 5"/>
          <p:cNvSpPr txBox="1"/>
          <p:nvPr/>
        </p:nvSpPr>
        <p:spPr>
          <a:xfrm>
            <a:off x="3200400" y="1417320"/>
            <a:ext cx="5486400" cy="914400"/>
          </a:xfrm>
          <a:prstGeom prst="rect">
            <a:avLst/>
          </a:prstGeom>
          <a:noFill/>
        </p:spPr>
        <p:txBody>
          <a:bodyPr wrap="square">
            <a:spAutoFit/>
          </a:bodyPr>
          <a:lstStyle/>
          <a:p>
            <a:pPr algn="l">
              <a:defRPr sz="1400" b="0">
                <a:solidFill>
                  <a:srgbClr val="1A1A1A"/>
                </a:solidFill>
              </a:defRPr>
            </a:pPr>
            <a:r>
              <a:t>「他者に期待してはいけない」</a:t>
            </a:r>
            <a:br/>
            <a:r>
              <a:t>「末端に倫理を期待するな」</a:t>
            </a:r>
          </a:p>
        </p:txBody>
      </p:sp>
      <p:sp>
        <p:nvSpPr>
          <p:cNvPr id="7" name="TextBox 6"/>
          <p:cNvSpPr txBox="1"/>
          <p:nvPr/>
        </p:nvSpPr>
        <p:spPr>
          <a:xfrm>
            <a:off x="9144000" y="1508760"/>
            <a:ext cx="2286000" cy="731520"/>
          </a:xfrm>
          <a:prstGeom prst="rect">
            <a:avLst/>
          </a:prstGeom>
          <a:noFill/>
        </p:spPr>
        <p:txBody>
          <a:bodyPr wrap="square">
            <a:spAutoFit/>
          </a:bodyPr>
          <a:lstStyle/>
          <a:p>
            <a:pPr algn="ctr">
              <a:defRPr sz="1500" b="0">
                <a:solidFill>
                  <a:srgbClr val="7F8C8D"/>
                </a:solidFill>
              </a:defRPr>
            </a:pPr>
            <a:r>
              <a:t>断絶と拒絶</a:t>
            </a:r>
          </a:p>
        </p:txBody>
      </p:sp>
      <p:sp>
        <p:nvSpPr>
          <p:cNvPr id="8" name="Rectangle 7"/>
          <p:cNvSpPr/>
          <p:nvPr/>
        </p:nvSpPr>
        <p:spPr>
          <a:xfrm>
            <a:off x="731520" y="2468880"/>
            <a:ext cx="2286000" cy="100584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06040"/>
            <a:ext cx="2103120" cy="731520"/>
          </a:xfrm>
          <a:prstGeom prst="rect">
            <a:avLst/>
          </a:prstGeom>
          <a:noFill/>
        </p:spPr>
        <p:txBody>
          <a:bodyPr wrap="square">
            <a:spAutoFit/>
          </a:bodyPr>
          <a:lstStyle/>
          <a:p>
            <a:pPr algn="ctr">
              <a:defRPr sz="1700" b="1">
                <a:solidFill>
                  <a:srgbClr val="FFFFFF"/>
                </a:solidFill>
              </a:defRPr>
            </a:pPr>
            <a:r>
              <a:t>警戒</a:t>
            </a:r>
          </a:p>
        </p:txBody>
      </p:sp>
      <p:sp>
        <p:nvSpPr>
          <p:cNvPr id="10" name="TextBox 9"/>
          <p:cNvSpPr txBox="1"/>
          <p:nvPr/>
        </p:nvSpPr>
        <p:spPr>
          <a:xfrm>
            <a:off x="3200400" y="2514600"/>
            <a:ext cx="5486400" cy="914400"/>
          </a:xfrm>
          <a:prstGeom prst="rect">
            <a:avLst/>
          </a:prstGeom>
          <a:noFill/>
        </p:spPr>
        <p:txBody>
          <a:bodyPr wrap="square">
            <a:spAutoFit/>
          </a:bodyPr>
          <a:lstStyle/>
          <a:p>
            <a:pPr algn="l">
              <a:defRPr sz="1400" b="0">
                <a:solidFill>
                  <a:srgbClr val="1A1A1A"/>
                </a:solidFill>
              </a:defRPr>
            </a:pPr>
            <a:r>
              <a:t>「拡大解釈を認めてはいけない」</a:t>
            </a:r>
            <a:br/>
            <a:r>
              <a:t>「自由とカオスは紙一重」</a:t>
            </a:r>
          </a:p>
        </p:txBody>
      </p:sp>
      <p:sp>
        <p:nvSpPr>
          <p:cNvPr id="11" name="TextBox 10"/>
          <p:cNvSpPr txBox="1"/>
          <p:nvPr/>
        </p:nvSpPr>
        <p:spPr>
          <a:xfrm>
            <a:off x="9144000" y="2606040"/>
            <a:ext cx="2286000" cy="731520"/>
          </a:xfrm>
          <a:prstGeom prst="rect">
            <a:avLst/>
          </a:prstGeom>
          <a:noFill/>
        </p:spPr>
        <p:txBody>
          <a:bodyPr wrap="square">
            <a:spAutoFit/>
          </a:bodyPr>
          <a:lstStyle/>
          <a:p>
            <a:pPr algn="ctr">
              <a:defRPr sz="1500" b="0">
                <a:solidFill>
                  <a:srgbClr val="7F8C8D"/>
                </a:solidFill>
              </a:defRPr>
            </a:pPr>
            <a:r>
              <a:t>過剰警戒</a:t>
            </a:r>
          </a:p>
        </p:txBody>
      </p:sp>
      <p:sp>
        <p:nvSpPr>
          <p:cNvPr id="12" name="Rectangle 11"/>
          <p:cNvSpPr/>
          <p:nvPr/>
        </p:nvSpPr>
        <p:spPr>
          <a:xfrm>
            <a:off x="731520" y="3566160"/>
            <a:ext cx="2286000" cy="100584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703320"/>
            <a:ext cx="2103120" cy="731520"/>
          </a:xfrm>
          <a:prstGeom prst="rect">
            <a:avLst/>
          </a:prstGeom>
          <a:noFill/>
        </p:spPr>
        <p:txBody>
          <a:bodyPr wrap="square">
            <a:spAutoFit/>
          </a:bodyPr>
          <a:lstStyle/>
          <a:p>
            <a:pPr algn="ctr">
              <a:defRPr sz="1700" b="1">
                <a:solidFill>
                  <a:srgbClr val="FFFFFF"/>
                </a:solidFill>
              </a:defRPr>
            </a:pPr>
            <a:r>
              <a:t>自己犠牲</a:t>
            </a:r>
          </a:p>
        </p:txBody>
      </p:sp>
      <p:sp>
        <p:nvSpPr>
          <p:cNvPr id="14" name="TextBox 13"/>
          <p:cNvSpPr txBox="1"/>
          <p:nvPr/>
        </p:nvSpPr>
        <p:spPr>
          <a:xfrm>
            <a:off x="3200400" y="3611880"/>
            <a:ext cx="5486400" cy="914400"/>
          </a:xfrm>
          <a:prstGeom prst="rect">
            <a:avLst/>
          </a:prstGeom>
          <a:noFill/>
        </p:spPr>
        <p:txBody>
          <a:bodyPr wrap="square">
            <a:spAutoFit/>
          </a:bodyPr>
          <a:lstStyle/>
          <a:p>
            <a:pPr algn="l">
              <a:defRPr sz="1400" b="0">
                <a:solidFill>
                  <a:srgbClr val="1A1A1A"/>
                </a:solidFill>
              </a:defRPr>
            </a:pPr>
            <a:r>
              <a:t>「幹の人間が責任を負うべき」</a:t>
            </a:r>
          </a:p>
        </p:txBody>
      </p:sp>
      <p:sp>
        <p:nvSpPr>
          <p:cNvPr id="15" name="TextBox 14"/>
          <p:cNvSpPr txBox="1"/>
          <p:nvPr/>
        </p:nvSpPr>
        <p:spPr>
          <a:xfrm>
            <a:off x="9144000" y="3703320"/>
            <a:ext cx="2286000" cy="731520"/>
          </a:xfrm>
          <a:prstGeom prst="rect">
            <a:avLst/>
          </a:prstGeom>
          <a:noFill/>
        </p:spPr>
        <p:txBody>
          <a:bodyPr wrap="square">
            <a:spAutoFit/>
          </a:bodyPr>
          <a:lstStyle/>
          <a:p>
            <a:pPr algn="ctr">
              <a:defRPr sz="1500" b="0">
                <a:solidFill>
                  <a:srgbClr val="7F8C8D"/>
                </a:solidFill>
              </a:defRPr>
            </a:pPr>
            <a:r>
              <a:t>他者志向</a:t>
            </a:r>
          </a:p>
        </p:txBody>
      </p:sp>
      <p:sp>
        <p:nvSpPr>
          <p:cNvPr id="16" name="Rectangle 15"/>
          <p:cNvSpPr/>
          <p:nvPr/>
        </p:nvSpPr>
        <p:spPr>
          <a:xfrm>
            <a:off x="731520" y="4663440"/>
            <a:ext cx="2286000" cy="100584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800600"/>
            <a:ext cx="2103120" cy="731520"/>
          </a:xfrm>
          <a:prstGeom prst="rect">
            <a:avLst/>
          </a:prstGeom>
          <a:noFill/>
        </p:spPr>
        <p:txBody>
          <a:bodyPr wrap="square">
            <a:spAutoFit/>
          </a:bodyPr>
          <a:lstStyle/>
          <a:p>
            <a:pPr algn="ctr">
              <a:defRPr sz="1700" b="1">
                <a:solidFill>
                  <a:srgbClr val="FFFFFF"/>
                </a:solidFill>
              </a:defRPr>
            </a:pPr>
            <a:r>
              <a:t>厳密な基準</a:t>
            </a:r>
          </a:p>
        </p:txBody>
      </p:sp>
      <p:sp>
        <p:nvSpPr>
          <p:cNvPr id="18" name="TextBox 17"/>
          <p:cNvSpPr txBox="1"/>
          <p:nvPr/>
        </p:nvSpPr>
        <p:spPr>
          <a:xfrm>
            <a:off x="3200400" y="4709160"/>
            <a:ext cx="5486400" cy="914400"/>
          </a:xfrm>
          <a:prstGeom prst="rect">
            <a:avLst/>
          </a:prstGeom>
          <a:noFill/>
        </p:spPr>
        <p:txBody>
          <a:bodyPr wrap="square">
            <a:spAutoFit/>
          </a:bodyPr>
          <a:lstStyle/>
          <a:p>
            <a:pPr algn="l">
              <a:defRPr sz="1400" b="0">
                <a:solidFill>
                  <a:srgbClr val="1A1A1A"/>
                </a:solidFill>
              </a:defRPr>
            </a:pPr>
            <a:r>
              <a:t>520行の懸念事項</a:t>
            </a:r>
            <a:br/>
            <a:r>
              <a:t>24個のエッジケース文書化</a:t>
            </a:r>
          </a:p>
        </p:txBody>
      </p:sp>
      <p:sp>
        <p:nvSpPr>
          <p:cNvPr id="19" name="TextBox 18"/>
          <p:cNvSpPr txBox="1"/>
          <p:nvPr/>
        </p:nvSpPr>
        <p:spPr>
          <a:xfrm>
            <a:off x="9144000" y="4800600"/>
            <a:ext cx="2286000" cy="731520"/>
          </a:xfrm>
          <a:prstGeom prst="rect">
            <a:avLst/>
          </a:prstGeom>
          <a:noFill/>
        </p:spPr>
        <p:txBody>
          <a:bodyPr wrap="square">
            <a:spAutoFit/>
          </a:bodyPr>
          <a:lstStyle/>
          <a:p>
            <a:pPr algn="ctr">
              <a:defRPr sz="1500" b="0">
                <a:solidFill>
                  <a:srgbClr val="7F8C8D"/>
                </a:solidFill>
              </a:defRPr>
            </a:pPr>
            <a:r>
              <a:t>過剰警戒</a:t>
            </a:r>
          </a:p>
        </p:txBody>
      </p:sp>
      <p:sp>
        <p:nvSpPr>
          <p:cNvPr id="20" name="Rectangle 19"/>
          <p:cNvSpPr/>
          <p:nvPr/>
        </p:nvSpPr>
        <p:spPr>
          <a:xfrm>
            <a:off x="731520" y="5486400"/>
            <a:ext cx="10698480" cy="1097280"/>
          </a:xfrm>
          <a:prstGeom prst="rect">
            <a:avLst/>
          </a:prstGeom>
          <a:solidFill>
            <a:srgbClr val="FD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577840"/>
            <a:ext cx="10332720" cy="914400"/>
          </a:xfrm>
          <a:prstGeom prst="rect">
            <a:avLst/>
          </a:prstGeom>
          <a:noFill/>
        </p:spPr>
        <p:txBody>
          <a:bodyPr wrap="square">
            <a:spAutoFit/>
          </a:bodyPr>
          <a:lstStyle/>
          <a:p>
            <a:pPr algn="l">
              <a:defRPr sz="1600" b="0">
                <a:solidFill>
                  <a:srgbClr val="E74C3C"/>
                </a:solidFill>
              </a:defRPr>
            </a:pPr>
            <a:r>
              <a:t>重要：これらは幼少期トラウマではなく「職業的信念体系」（8年の帰納的結論）である可能性が高い。</a:t>
            </a:r>
            <a:br/>
            <a:r>
              <a:t>不適応的スキーマを最も機能する領域（システム設計）に正確に配置 → 高い自己認識の表れ。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2800" b="1">
                <a:solidFill>
                  <a:srgbClr val="FFFFFF"/>
                </a:solidFill>
              </a:defRPr>
            </a:pPr>
            <a:r>
              <a:t>VII. 発達心理学 — 早すぎる生殖性と30歳の過渡期</a:t>
            </a:r>
          </a:p>
        </p:txBody>
      </p:sp>
      <p:sp>
        <p:nvSpPr>
          <p:cNvPr id="4" name="TextBox 3"/>
          <p:cNvSpPr txBox="1"/>
          <p:nvPr/>
        </p:nvSpPr>
        <p:spPr>
          <a:xfrm>
            <a:off x="731520" y="1371600"/>
            <a:ext cx="5029200" cy="457200"/>
          </a:xfrm>
          <a:prstGeom prst="rect">
            <a:avLst/>
          </a:prstGeom>
          <a:noFill/>
        </p:spPr>
        <p:txBody>
          <a:bodyPr wrap="square">
            <a:spAutoFit/>
          </a:bodyPr>
          <a:lstStyle/>
          <a:p>
            <a:pPr algn="l">
              <a:defRPr sz="2000" b="1">
                <a:solidFill>
                  <a:srgbClr val="2C3E50"/>
                </a:solidFill>
              </a:defRPr>
            </a:pPr>
            <a:r>
              <a:t>エリクソン発達段階</a:t>
            </a:r>
          </a:p>
        </p:txBody>
      </p:sp>
      <p:sp>
        <p:nvSpPr>
          <p:cNvPr id="5" name="Rectangle 4"/>
          <p:cNvSpPr/>
          <p:nvPr/>
        </p:nvSpPr>
        <p:spPr>
          <a:xfrm>
            <a:off x="731520" y="2011680"/>
            <a:ext cx="1645920" cy="64008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03120"/>
            <a:ext cx="1463040" cy="457200"/>
          </a:xfrm>
          <a:prstGeom prst="rect">
            <a:avLst/>
          </a:prstGeom>
          <a:noFill/>
        </p:spPr>
        <p:txBody>
          <a:bodyPr wrap="square">
            <a:spAutoFit/>
          </a:bodyPr>
          <a:lstStyle/>
          <a:p>
            <a:pPr algn="ctr">
              <a:defRPr sz="1400" b="1">
                <a:solidFill>
                  <a:srgbClr val="FFFFFF"/>
                </a:solidFill>
              </a:defRPr>
            </a:pPr>
            <a:r>
              <a:t>24-26歳</a:t>
            </a:r>
          </a:p>
        </p:txBody>
      </p:sp>
      <p:sp>
        <p:nvSpPr>
          <p:cNvPr id="7" name="TextBox 6"/>
          <p:cNvSpPr txBox="1"/>
          <p:nvPr/>
        </p:nvSpPr>
        <p:spPr>
          <a:xfrm>
            <a:off x="2560320" y="2103120"/>
            <a:ext cx="3200400" cy="457200"/>
          </a:xfrm>
          <a:prstGeom prst="rect">
            <a:avLst/>
          </a:prstGeom>
          <a:noFill/>
        </p:spPr>
        <p:txBody>
          <a:bodyPr wrap="square">
            <a:spAutoFit/>
          </a:bodyPr>
          <a:lstStyle/>
          <a:p>
            <a:pPr algn="l">
              <a:defRPr sz="1400" b="0">
                <a:solidFill>
                  <a:srgbClr val="1A1A1A"/>
                </a:solidFill>
              </a:defRPr>
            </a:pPr>
            <a:r>
              <a:t>新卒〜若手。理想の形成期</a:t>
            </a:r>
          </a:p>
        </p:txBody>
      </p:sp>
      <p:sp>
        <p:nvSpPr>
          <p:cNvPr id="8" name="Rectangle 7"/>
          <p:cNvSpPr/>
          <p:nvPr/>
        </p:nvSpPr>
        <p:spPr>
          <a:xfrm>
            <a:off x="731520" y="2788920"/>
            <a:ext cx="1645920" cy="64008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1463040" cy="457200"/>
          </a:xfrm>
          <a:prstGeom prst="rect">
            <a:avLst/>
          </a:prstGeom>
          <a:noFill/>
        </p:spPr>
        <p:txBody>
          <a:bodyPr wrap="square">
            <a:spAutoFit/>
          </a:bodyPr>
          <a:lstStyle/>
          <a:p>
            <a:pPr algn="ctr">
              <a:defRPr sz="1400" b="1">
                <a:solidFill>
                  <a:srgbClr val="FFFFFF"/>
                </a:solidFill>
              </a:defRPr>
            </a:pPr>
            <a:r>
              <a:t>26-28歳</a:t>
            </a:r>
          </a:p>
        </p:txBody>
      </p:sp>
      <p:sp>
        <p:nvSpPr>
          <p:cNvPr id="10" name="TextBox 9"/>
          <p:cNvSpPr txBox="1"/>
          <p:nvPr/>
        </p:nvSpPr>
        <p:spPr>
          <a:xfrm>
            <a:off x="2560320" y="2880360"/>
            <a:ext cx="3200400" cy="457200"/>
          </a:xfrm>
          <a:prstGeom prst="rect">
            <a:avLst/>
          </a:prstGeom>
          <a:noFill/>
        </p:spPr>
        <p:txBody>
          <a:bodyPr wrap="square">
            <a:spAutoFit/>
          </a:bodyPr>
          <a:lstStyle/>
          <a:p>
            <a:pPr algn="l">
              <a:defRPr sz="1400" b="0">
                <a:solidFill>
                  <a:srgbClr val="1A1A1A"/>
                </a:solidFill>
              </a:defRPr>
            </a:pPr>
            <a:r>
              <a:t>中堅。理想と現実の乖離を体感</a:t>
            </a:r>
          </a:p>
        </p:txBody>
      </p:sp>
      <p:sp>
        <p:nvSpPr>
          <p:cNvPr id="11" name="Rectangle 10"/>
          <p:cNvSpPr/>
          <p:nvPr/>
        </p:nvSpPr>
        <p:spPr>
          <a:xfrm>
            <a:off x="731520" y="3566160"/>
            <a:ext cx="1645920" cy="64008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657600"/>
            <a:ext cx="1463040" cy="457200"/>
          </a:xfrm>
          <a:prstGeom prst="rect">
            <a:avLst/>
          </a:prstGeom>
          <a:noFill/>
        </p:spPr>
        <p:txBody>
          <a:bodyPr wrap="square">
            <a:spAutoFit/>
          </a:bodyPr>
          <a:lstStyle/>
          <a:p>
            <a:pPr algn="ctr">
              <a:defRPr sz="1400" b="1">
                <a:solidFill>
                  <a:srgbClr val="FFFFFF"/>
                </a:solidFill>
              </a:defRPr>
            </a:pPr>
            <a:r>
              <a:t>28-30歳</a:t>
            </a:r>
          </a:p>
        </p:txBody>
      </p:sp>
      <p:sp>
        <p:nvSpPr>
          <p:cNvPr id="13" name="TextBox 12"/>
          <p:cNvSpPr txBox="1"/>
          <p:nvPr/>
        </p:nvSpPr>
        <p:spPr>
          <a:xfrm>
            <a:off x="2560320" y="3657600"/>
            <a:ext cx="3200400" cy="457200"/>
          </a:xfrm>
          <a:prstGeom prst="rect">
            <a:avLst/>
          </a:prstGeom>
          <a:noFill/>
        </p:spPr>
        <p:txBody>
          <a:bodyPr wrap="square">
            <a:spAutoFit/>
          </a:bodyPr>
          <a:lstStyle/>
          <a:p>
            <a:pPr algn="l">
              <a:defRPr sz="1400" b="0">
                <a:solidFill>
                  <a:srgbClr val="1A1A1A"/>
                </a:solidFill>
              </a:defRPr>
            </a:pPr>
            <a:r>
              <a:t>リーダー的役割。「末端は未来を考えない」の実体験</a:t>
            </a:r>
          </a:p>
        </p:txBody>
      </p:sp>
      <p:sp>
        <p:nvSpPr>
          <p:cNvPr id="14" name="Rectangle 13"/>
          <p:cNvSpPr/>
          <p:nvPr/>
        </p:nvSpPr>
        <p:spPr>
          <a:xfrm>
            <a:off x="731520" y="4343400"/>
            <a:ext cx="1645920" cy="64008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434840"/>
            <a:ext cx="1463040" cy="457200"/>
          </a:xfrm>
          <a:prstGeom prst="rect">
            <a:avLst/>
          </a:prstGeom>
          <a:noFill/>
        </p:spPr>
        <p:txBody>
          <a:bodyPr wrap="square">
            <a:spAutoFit/>
          </a:bodyPr>
          <a:lstStyle/>
          <a:p>
            <a:pPr algn="ctr">
              <a:defRPr sz="1400" b="1">
                <a:solidFill>
                  <a:srgbClr val="FFFFFF"/>
                </a:solidFill>
              </a:defRPr>
            </a:pPr>
            <a:r>
              <a:t>30-32歳</a:t>
            </a:r>
          </a:p>
        </p:txBody>
      </p:sp>
      <p:sp>
        <p:nvSpPr>
          <p:cNvPr id="16" name="TextBox 15"/>
          <p:cNvSpPr txBox="1"/>
          <p:nvPr/>
        </p:nvSpPr>
        <p:spPr>
          <a:xfrm>
            <a:off x="2560320" y="4434840"/>
            <a:ext cx="3200400" cy="457200"/>
          </a:xfrm>
          <a:prstGeom prst="rect">
            <a:avLst/>
          </a:prstGeom>
          <a:noFill/>
        </p:spPr>
        <p:txBody>
          <a:bodyPr wrap="square">
            <a:spAutoFit/>
          </a:bodyPr>
          <a:lstStyle/>
          <a:p>
            <a:pPr algn="l">
              <a:defRPr sz="1400" b="0">
                <a:solidFill>
                  <a:srgbClr val="1A1A1A"/>
                </a:solidFill>
              </a:defRPr>
            </a:pPr>
            <a:r>
              <a:t>基盤側へ。怒りから構築への転換</a:t>
            </a:r>
          </a:p>
        </p:txBody>
      </p:sp>
      <p:sp>
        <p:nvSpPr>
          <p:cNvPr id="17" name="Rectangle 16"/>
          <p:cNvSpPr/>
          <p:nvPr/>
        </p:nvSpPr>
        <p:spPr>
          <a:xfrm>
            <a:off x="6400800" y="1371600"/>
            <a:ext cx="5029200" cy="475488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1554480"/>
            <a:ext cx="4572000" cy="365760"/>
          </a:xfrm>
          <a:prstGeom prst="rect">
            <a:avLst/>
          </a:prstGeom>
          <a:noFill/>
        </p:spPr>
        <p:txBody>
          <a:bodyPr wrap="square">
            <a:spAutoFit/>
          </a:bodyPr>
          <a:lstStyle/>
          <a:p>
            <a:pPr algn="l">
              <a:defRPr sz="2000" b="1">
                <a:solidFill>
                  <a:srgbClr val="2C3E50"/>
                </a:solidFill>
              </a:defRPr>
            </a:pPr>
            <a:r>
              <a:t>核心的発見</a:t>
            </a:r>
          </a:p>
        </p:txBody>
      </p:sp>
      <p:sp>
        <p:nvSpPr>
          <p:cNvPr id="19" name="TextBox 18"/>
          <p:cNvSpPr txBox="1"/>
          <p:nvPr/>
        </p:nvSpPr>
        <p:spPr>
          <a:xfrm>
            <a:off x="6675120" y="2103120"/>
            <a:ext cx="4572000" cy="3657600"/>
          </a:xfrm>
          <a:prstGeom prst="rect">
            <a:avLst/>
          </a:prstGeom>
          <a:noFill/>
        </p:spPr>
        <p:txBody>
          <a:bodyPr wrap="square">
            <a:spAutoFit/>
          </a:bodyPr>
          <a:lstStyle/>
          <a:p>
            <a:pPr algn="l">
              <a:defRPr sz="1600" b="1">
                <a:solidFill>
                  <a:srgbClr val="1A1A1A"/>
                </a:solidFill>
              </a:defRPr>
            </a:pPr>
            <a:r>
              <a:t>32歳 = エリクソン第6段階（親密性 vs 孤立）の時期</a:t>
            </a:r>
          </a:p>
          <a:p>
            <a:pPr algn="l">
              <a:spcBef>
                <a:spcPts val="600"/>
              </a:spcBef>
              <a:defRPr sz="1000" b="0">
                <a:solidFill>
                  <a:srgbClr val="1A1A1A"/>
                </a:solidFill>
              </a:defRPr>
            </a:pPr>
          </a:p>
          <a:p>
            <a:pPr algn="l">
              <a:spcBef>
                <a:spcPts val="600"/>
              </a:spcBef>
              <a:defRPr sz="1600" b="0">
                <a:solidFill>
                  <a:srgbClr val="1A1A1A"/>
                </a:solidFill>
              </a:defRPr>
            </a:pPr>
            <a:r>
              <a:t>しかし第6段階を飛び越え、第7段階「生殖性」（次世代への貢献）に突入している。</a:t>
            </a:r>
          </a:p>
          <a:p>
            <a:pPr algn="l">
              <a:spcBef>
                <a:spcPts val="600"/>
              </a:spcBef>
              <a:defRPr sz="1000" b="0">
                <a:solidFill>
                  <a:srgbClr val="1A1A1A"/>
                </a:solidFill>
              </a:defRPr>
            </a:pPr>
          </a:p>
          <a:p>
            <a:pPr algn="l">
              <a:spcBef>
                <a:spcPts val="600"/>
              </a:spcBef>
              <a:defRPr sz="1600" b="0">
                <a:solidFill>
                  <a:srgbClr val="1A1A1A"/>
                </a:solidFill>
              </a:defRPr>
            </a:pPr>
            <a:r>
              <a:t>レヴィンソンの「30歳の過渡期」：20代の人生構造への根本的問い直し。kiso_memo.txtはその爆発の記録。</a:t>
            </a:r>
          </a:p>
          <a:p>
            <a:pPr algn="l">
              <a:spcBef>
                <a:spcPts val="600"/>
              </a:spcBef>
              <a:defRPr sz="1000" b="0">
                <a:solidFill>
                  <a:srgbClr val="1A1A1A"/>
                </a:solidFill>
              </a:defRPr>
            </a:pPr>
          </a:p>
          <a:p>
            <a:pPr algn="l">
              <a:spcBef>
                <a:spcPts val="600"/>
              </a:spcBef>
              <a:defRPr sz="1800" b="1">
                <a:solidFill>
                  <a:srgbClr val="E74C3C"/>
                </a:solidFill>
              </a:defRPr>
            </a:pPr>
            <a:r>
              <a:t>→ 「信頼しないが、与える」</a:t>
            </a:r>
          </a:p>
          <a:p>
            <a:pPr algn="l">
              <a:spcBef>
                <a:spcPts val="600"/>
              </a:spcBef>
              <a:defRPr sz="1600" b="0">
                <a:solidFill>
                  <a:srgbClr val="1A1A1A"/>
                </a:solidFill>
              </a:defRPr>
            </a:pPr>
            <a:r>
              <a:t>不信を前提としたまま生殖性を実現する独自の発達的統合。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2800" b="1">
                <a:solidFill>
                  <a:srgbClr val="FFFFFF"/>
                </a:solidFill>
              </a:defRPr>
            </a:pPr>
            <a:r>
              <a:t>VIII. 認知的成熟度とギフテッド特性</a:t>
            </a:r>
          </a:p>
        </p:txBody>
      </p:sp>
      <p:sp>
        <p:nvSpPr>
          <p:cNvPr id="4" name="Rectangle 3"/>
          <p:cNvSpPr/>
          <p:nvPr/>
        </p:nvSpPr>
        <p:spPr>
          <a:xfrm>
            <a:off x="731520" y="1371600"/>
            <a:ext cx="2011680" cy="73152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63040"/>
            <a:ext cx="1828800" cy="548640"/>
          </a:xfrm>
          <a:prstGeom prst="rect">
            <a:avLst/>
          </a:prstGeom>
          <a:noFill/>
        </p:spPr>
        <p:txBody>
          <a:bodyPr wrap="square">
            <a:spAutoFit/>
          </a:bodyPr>
          <a:lstStyle/>
          <a:p>
            <a:pPr algn="ctr">
              <a:defRPr sz="1500" b="1">
                <a:solidFill>
                  <a:srgbClr val="FFFFFF"/>
                </a:solidFill>
              </a:defRPr>
            </a:pPr>
            <a:r>
              <a:t>過度激動</a:t>
            </a:r>
          </a:p>
        </p:txBody>
      </p:sp>
      <p:sp>
        <p:nvSpPr>
          <p:cNvPr id="6" name="TextBox 5"/>
          <p:cNvSpPr txBox="1"/>
          <p:nvPr/>
        </p:nvSpPr>
        <p:spPr>
          <a:xfrm>
            <a:off x="2926080" y="1463040"/>
            <a:ext cx="3657600" cy="548640"/>
          </a:xfrm>
          <a:prstGeom prst="rect">
            <a:avLst/>
          </a:prstGeom>
          <a:noFill/>
        </p:spPr>
        <p:txBody>
          <a:bodyPr wrap="square">
            <a:spAutoFit/>
          </a:bodyPr>
          <a:lstStyle/>
          <a:p>
            <a:pPr algn="l">
              <a:defRPr sz="1500" b="0">
                <a:solidFill>
                  <a:srgbClr val="1A1A1A"/>
                </a:solidFill>
              </a:defRPr>
            </a:pPr>
            <a:r>
              <a:t>6言語を一人で実装するエネルギー量</a:t>
            </a:r>
          </a:p>
        </p:txBody>
      </p:sp>
      <p:sp>
        <p:nvSpPr>
          <p:cNvPr id="7" name="Rectangle 6"/>
          <p:cNvSpPr/>
          <p:nvPr/>
        </p:nvSpPr>
        <p:spPr>
          <a:xfrm>
            <a:off x="731520" y="2194560"/>
            <a:ext cx="2011680" cy="73152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86000"/>
            <a:ext cx="1828800" cy="548640"/>
          </a:xfrm>
          <a:prstGeom prst="rect">
            <a:avLst/>
          </a:prstGeom>
          <a:noFill/>
        </p:spPr>
        <p:txBody>
          <a:bodyPr wrap="square">
            <a:spAutoFit/>
          </a:bodyPr>
          <a:lstStyle/>
          <a:p>
            <a:pPr algn="ctr">
              <a:defRPr sz="1500" b="1">
                <a:solidFill>
                  <a:srgbClr val="FFFFFF"/>
                </a:solidFill>
              </a:defRPr>
            </a:pPr>
            <a:r>
              <a:t>完璧主義</a:t>
            </a:r>
          </a:p>
        </p:txBody>
      </p:sp>
      <p:sp>
        <p:nvSpPr>
          <p:cNvPr id="9" name="TextBox 8"/>
          <p:cNvSpPr txBox="1"/>
          <p:nvPr/>
        </p:nvSpPr>
        <p:spPr>
          <a:xfrm>
            <a:off x="2926080" y="2286000"/>
            <a:ext cx="3657600" cy="548640"/>
          </a:xfrm>
          <a:prstGeom prst="rect">
            <a:avLst/>
          </a:prstGeom>
          <a:noFill/>
        </p:spPr>
        <p:txBody>
          <a:bodyPr wrap="square">
            <a:spAutoFit/>
          </a:bodyPr>
          <a:lstStyle/>
          <a:p>
            <a:pPr algn="l">
              <a:defRPr sz="1500" b="0">
                <a:solidFill>
                  <a:srgbClr val="1A1A1A"/>
                </a:solidFill>
              </a:defRPr>
            </a:pPr>
            <a:r>
              <a:t>520行の懸念事項、24のエッジケース</a:t>
            </a:r>
          </a:p>
        </p:txBody>
      </p:sp>
      <p:sp>
        <p:nvSpPr>
          <p:cNvPr id="10" name="Rectangle 9"/>
          <p:cNvSpPr/>
          <p:nvPr/>
        </p:nvSpPr>
        <p:spPr>
          <a:xfrm>
            <a:off x="731520" y="3017520"/>
            <a:ext cx="2011680" cy="73152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108960"/>
            <a:ext cx="1828800" cy="548640"/>
          </a:xfrm>
          <a:prstGeom prst="rect">
            <a:avLst/>
          </a:prstGeom>
          <a:noFill/>
        </p:spPr>
        <p:txBody>
          <a:bodyPr wrap="square">
            <a:spAutoFit/>
          </a:bodyPr>
          <a:lstStyle/>
          <a:p>
            <a:pPr algn="ctr">
              <a:defRPr sz="1500" b="1">
                <a:solidFill>
                  <a:srgbClr val="FFFFFF"/>
                </a:solidFill>
              </a:defRPr>
            </a:pPr>
            <a:r>
              <a:t>非同期発達</a:t>
            </a:r>
          </a:p>
        </p:txBody>
      </p:sp>
      <p:sp>
        <p:nvSpPr>
          <p:cNvPr id="12" name="TextBox 11"/>
          <p:cNvSpPr txBox="1"/>
          <p:nvPr/>
        </p:nvSpPr>
        <p:spPr>
          <a:xfrm>
            <a:off x="2926080" y="3108960"/>
            <a:ext cx="3657600" cy="548640"/>
          </a:xfrm>
          <a:prstGeom prst="rect">
            <a:avLst/>
          </a:prstGeom>
          <a:noFill/>
        </p:spPr>
        <p:txBody>
          <a:bodyPr wrap="square">
            <a:spAutoFit/>
          </a:bodyPr>
          <a:lstStyle/>
          <a:p>
            <a:pPr algn="l">
              <a:defRPr sz="1500" b="0">
                <a:solidFill>
                  <a:srgbClr val="1A1A1A"/>
                </a:solidFill>
              </a:defRPr>
            </a:pPr>
            <a:r>
              <a:t>知的成熟は40代水準、社会的信頼は未発達</a:t>
            </a:r>
          </a:p>
        </p:txBody>
      </p:sp>
      <p:sp>
        <p:nvSpPr>
          <p:cNvPr id="13" name="Rectangle 12"/>
          <p:cNvSpPr/>
          <p:nvPr/>
        </p:nvSpPr>
        <p:spPr>
          <a:xfrm>
            <a:off x="731520" y="3840480"/>
            <a:ext cx="2011680" cy="73152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931920"/>
            <a:ext cx="1828800" cy="548640"/>
          </a:xfrm>
          <a:prstGeom prst="rect">
            <a:avLst/>
          </a:prstGeom>
          <a:noFill/>
        </p:spPr>
        <p:txBody>
          <a:bodyPr wrap="square">
            <a:spAutoFit/>
          </a:bodyPr>
          <a:lstStyle/>
          <a:p>
            <a:pPr algn="ctr">
              <a:defRPr sz="1500" b="1">
                <a:solidFill>
                  <a:srgbClr val="FFFFFF"/>
                </a:solidFill>
              </a:defRPr>
            </a:pPr>
            <a:r>
              <a:t>存在論的孤独</a:t>
            </a:r>
          </a:p>
        </p:txBody>
      </p:sp>
      <p:sp>
        <p:nvSpPr>
          <p:cNvPr id="15" name="TextBox 14"/>
          <p:cNvSpPr txBox="1"/>
          <p:nvPr/>
        </p:nvSpPr>
        <p:spPr>
          <a:xfrm>
            <a:off x="2926080" y="3931920"/>
            <a:ext cx="3657600" cy="548640"/>
          </a:xfrm>
          <a:prstGeom prst="rect">
            <a:avLst/>
          </a:prstGeom>
          <a:noFill/>
        </p:spPr>
        <p:txBody>
          <a:bodyPr wrap="square">
            <a:spAutoFit/>
          </a:bodyPr>
          <a:lstStyle/>
          <a:p>
            <a:pPr algn="l">
              <a:defRPr sz="1500" b="0">
                <a:solidFill>
                  <a:srgbClr val="1A1A1A"/>
                </a:solidFill>
              </a:defRPr>
            </a:pPr>
            <a:r>
              <a:t>「他者に期待するな」——理解者の不在</a:t>
            </a:r>
          </a:p>
        </p:txBody>
      </p:sp>
      <p:sp>
        <p:nvSpPr>
          <p:cNvPr id="16" name="Rectangle 15"/>
          <p:cNvSpPr/>
          <p:nvPr/>
        </p:nvSpPr>
        <p:spPr>
          <a:xfrm>
            <a:off x="731520" y="4663440"/>
            <a:ext cx="2011680" cy="73152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754880"/>
            <a:ext cx="1828800" cy="548640"/>
          </a:xfrm>
          <a:prstGeom prst="rect">
            <a:avLst/>
          </a:prstGeom>
          <a:noFill/>
        </p:spPr>
        <p:txBody>
          <a:bodyPr wrap="square">
            <a:spAutoFit/>
          </a:bodyPr>
          <a:lstStyle/>
          <a:p>
            <a:pPr algn="ctr">
              <a:defRPr sz="1500" b="1">
                <a:solidFill>
                  <a:srgbClr val="FFFFFF"/>
                </a:solidFill>
              </a:defRPr>
            </a:pPr>
            <a:r>
              <a:t>強い正義感</a:t>
            </a:r>
          </a:p>
        </p:txBody>
      </p:sp>
      <p:sp>
        <p:nvSpPr>
          <p:cNvPr id="18" name="TextBox 17"/>
          <p:cNvSpPr txBox="1"/>
          <p:nvPr/>
        </p:nvSpPr>
        <p:spPr>
          <a:xfrm>
            <a:off x="2926080" y="4754880"/>
            <a:ext cx="3657600" cy="548640"/>
          </a:xfrm>
          <a:prstGeom prst="rect">
            <a:avLst/>
          </a:prstGeom>
          <a:noFill/>
        </p:spPr>
        <p:txBody>
          <a:bodyPr wrap="square">
            <a:spAutoFit/>
          </a:bodyPr>
          <a:lstStyle/>
          <a:p>
            <a:pPr algn="l">
              <a:defRPr sz="1500" b="0">
                <a:solidFill>
                  <a:srgbClr val="1A1A1A"/>
                </a:solidFill>
              </a:defRPr>
            </a:pPr>
            <a:r>
              <a:t>「幹の人間が責任を負うべき」</a:t>
            </a:r>
          </a:p>
        </p:txBody>
      </p:sp>
      <p:sp>
        <p:nvSpPr>
          <p:cNvPr id="19" name="Rectangle 18"/>
          <p:cNvSpPr/>
          <p:nvPr/>
        </p:nvSpPr>
        <p:spPr>
          <a:xfrm>
            <a:off x="731520" y="5486400"/>
            <a:ext cx="2011680" cy="73152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577840"/>
            <a:ext cx="1828800" cy="548640"/>
          </a:xfrm>
          <a:prstGeom prst="rect">
            <a:avLst/>
          </a:prstGeom>
          <a:noFill/>
        </p:spPr>
        <p:txBody>
          <a:bodyPr wrap="square">
            <a:spAutoFit/>
          </a:bodyPr>
          <a:lstStyle/>
          <a:p>
            <a:pPr algn="ctr">
              <a:defRPr sz="1500" b="1">
                <a:solidFill>
                  <a:srgbClr val="FFFFFF"/>
                </a:solidFill>
              </a:defRPr>
            </a:pPr>
            <a:r>
              <a:t>内的駆動力</a:t>
            </a:r>
          </a:p>
        </p:txBody>
      </p:sp>
      <p:sp>
        <p:nvSpPr>
          <p:cNvPr id="21" name="TextBox 20"/>
          <p:cNvSpPr txBox="1"/>
          <p:nvPr/>
        </p:nvSpPr>
        <p:spPr>
          <a:xfrm>
            <a:off x="2926080" y="5577840"/>
            <a:ext cx="3657600" cy="548640"/>
          </a:xfrm>
          <a:prstGeom prst="rect">
            <a:avLst/>
          </a:prstGeom>
          <a:noFill/>
        </p:spPr>
        <p:txBody>
          <a:bodyPr wrap="square">
            <a:spAutoFit/>
          </a:bodyPr>
          <a:lstStyle/>
          <a:p>
            <a:pPr algn="l">
              <a:defRPr sz="1500" b="0">
                <a:solidFill>
                  <a:srgbClr val="1A1A1A"/>
                </a:solidFill>
              </a:defRPr>
            </a:pPr>
            <a:r>
              <a:t>承認なしに大規模プロジェクトを推進</a:t>
            </a:r>
          </a:p>
        </p:txBody>
      </p:sp>
      <p:sp>
        <p:nvSpPr>
          <p:cNvPr id="22" name="Rectangle 21"/>
          <p:cNvSpPr/>
          <p:nvPr/>
        </p:nvSpPr>
        <p:spPr>
          <a:xfrm>
            <a:off x="6858000" y="1371600"/>
            <a:ext cx="4572000" cy="475488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0" y="1554480"/>
            <a:ext cx="4206240" cy="365760"/>
          </a:xfrm>
          <a:prstGeom prst="rect">
            <a:avLst/>
          </a:prstGeom>
          <a:noFill/>
        </p:spPr>
        <p:txBody>
          <a:bodyPr wrap="square">
            <a:spAutoFit/>
          </a:bodyPr>
          <a:lstStyle/>
          <a:p>
            <a:pPr algn="l">
              <a:defRPr sz="2000" b="1">
                <a:solidFill>
                  <a:srgbClr val="2C3E50"/>
                </a:solidFill>
              </a:defRPr>
            </a:pPr>
            <a:r>
              <a:t>ポスト形式的思考</a:t>
            </a:r>
          </a:p>
        </p:txBody>
      </p:sp>
      <p:sp>
        <p:nvSpPr>
          <p:cNvPr id="24" name="TextBox 23"/>
          <p:cNvSpPr txBox="1"/>
          <p:nvPr/>
        </p:nvSpPr>
        <p:spPr>
          <a:xfrm>
            <a:off x="7040880" y="2103120"/>
            <a:ext cx="4206240" cy="1371600"/>
          </a:xfrm>
          <a:prstGeom prst="rect">
            <a:avLst/>
          </a:prstGeom>
          <a:noFill/>
        </p:spPr>
        <p:txBody>
          <a:bodyPr wrap="square">
            <a:spAutoFit/>
          </a:bodyPr>
          <a:lstStyle/>
          <a:p>
            <a:pPr algn="l">
              <a:defRPr sz="1500" b="0">
                <a:solidFill>
                  <a:srgbClr val="1A1A1A"/>
                </a:solidFill>
              </a:defRPr>
            </a:pPr>
            <a:r>
              <a:t>「バグの本質は作成の過程にある」= メタ認知の高さ</a:t>
            </a:r>
            <a:br/>
            <a:r>
              <a:t>「自由とカオスは紙一重」= 弁証法的思考</a:t>
            </a:r>
            <a:br/>
            <a:r>
              <a:t>→ 通常30代後半以降に発達する能力</a:t>
            </a:r>
          </a:p>
        </p:txBody>
      </p:sp>
      <p:sp>
        <p:nvSpPr>
          <p:cNvPr id="25" name="TextBox 24"/>
          <p:cNvSpPr txBox="1"/>
          <p:nvPr/>
        </p:nvSpPr>
        <p:spPr>
          <a:xfrm>
            <a:off x="7040880" y="3657600"/>
            <a:ext cx="4206240" cy="365760"/>
          </a:xfrm>
          <a:prstGeom prst="rect">
            <a:avLst/>
          </a:prstGeom>
          <a:noFill/>
        </p:spPr>
        <p:txBody>
          <a:bodyPr wrap="square">
            <a:spAutoFit/>
          </a:bodyPr>
          <a:lstStyle/>
          <a:p>
            <a:pPr algn="l">
              <a:defRPr sz="1800" b="1">
                <a:solidFill>
                  <a:srgbClr val="2C3E50"/>
                </a:solidFill>
              </a:defRPr>
            </a:pPr>
            <a:r>
              <a:t>ドンブロフスキの積極的分離</a:t>
            </a:r>
          </a:p>
        </p:txBody>
      </p:sp>
      <p:sp>
        <p:nvSpPr>
          <p:cNvPr id="26" name="TextBox 25"/>
          <p:cNvSpPr txBox="1"/>
          <p:nvPr/>
        </p:nvSpPr>
        <p:spPr>
          <a:xfrm>
            <a:off x="7040880" y="4206240"/>
            <a:ext cx="4206240" cy="1828800"/>
          </a:xfrm>
          <a:prstGeom prst="rect">
            <a:avLst/>
          </a:prstGeom>
          <a:noFill/>
        </p:spPr>
        <p:txBody>
          <a:bodyPr wrap="square">
            <a:spAutoFit/>
          </a:bodyPr>
          <a:lstStyle/>
          <a:p>
            <a:pPr algn="l">
              <a:defRPr sz="1500" b="0">
                <a:solidFill>
                  <a:srgbClr val="1A1A1A"/>
                </a:solidFill>
              </a:defRPr>
            </a:pPr>
            <a:r>
              <a:t>既存の価値体系を一度解体し、自分自身の価値体系を再構築する過程。</a:t>
            </a:r>
            <a:br/>
            <a:br/>
            <a:r>
              <a:t>kiso_memo.txt = 積極的分離の過程で生まれた再構築された価値体系の記録。</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defRPr sz="2800" b="1">
                <a:solidFill>
                  <a:srgbClr val="FFFFFF"/>
                </a:solidFill>
              </a:defRPr>
            </a:pPr>
            <a:r>
              <a:t>IX. リスクと可能性</a:t>
            </a:r>
          </a:p>
        </p:txBody>
      </p:sp>
      <p:sp>
        <p:nvSpPr>
          <p:cNvPr id="4" name="Rectangle 3"/>
          <p:cNvSpPr/>
          <p:nvPr/>
        </p:nvSpPr>
        <p:spPr>
          <a:xfrm>
            <a:off x="731520" y="1371600"/>
            <a:ext cx="5029200" cy="822960"/>
          </a:xfrm>
          <a:prstGeom prst="rect">
            <a:avLst/>
          </a:prstGeom>
          <a:solidFill>
            <a:srgbClr val="FD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1645920" cy="731520"/>
          </a:xfrm>
          <a:prstGeom prst="rect">
            <a:avLst/>
          </a:prstGeom>
          <a:noFill/>
        </p:spPr>
        <p:txBody>
          <a:bodyPr wrap="square">
            <a:spAutoFit/>
          </a:bodyPr>
          <a:lstStyle/>
          <a:p>
            <a:pPr algn="l">
              <a:defRPr sz="1400" b="1">
                <a:solidFill>
                  <a:srgbClr val="E74C3C"/>
                </a:solidFill>
              </a:defRPr>
            </a:pPr>
            <a:r>
              <a:t>燃え尽き</a:t>
            </a:r>
          </a:p>
        </p:txBody>
      </p:sp>
      <p:sp>
        <p:nvSpPr>
          <p:cNvPr id="6" name="TextBox 5"/>
          <p:cNvSpPr txBox="1"/>
          <p:nvPr/>
        </p:nvSpPr>
        <p:spPr>
          <a:xfrm>
            <a:off x="2560320" y="1417320"/>
            <a:ext cx="3017520" cy="731520"/>
          </a:xfrm>
          <a:prstGeom prst="rect">
            <a:avLst/>
          </a:prstGeom>
          <a:noFill/>
        </p:spPr>
        <p:txBody>
          <a:bodyPr wrap="square">
            <a:spAutoFit/>
          </a:bodyPr>
          <a:lstStyle/>
          <a:p>
            <a:pPr algn="l">
              <a:defRPr sz="1300" b="0">
                <a:solidFill>
                  <a:srgbClr val="1A1A1A"/>
                </a:solidFill>
              </a:defRPr>
            </a:pPr>
            <a:r>
              <a:t>8年の失望＋ソロ開発負荷。30-35歳はバーンアウト頻発年齢帯</a:t>
            </a:r>
          </a:p>
        </p:txBody>
      </p:sp>
      <p:sp>
        <p:nvSpPr>
          <p:cNvPr id="7" name="Rectangle 6"/>
          <p:cNvSpPr/>
          <p:nvPr/>
        </p:nvSpPr>
        <p:spPr>
          <a:xfrm>
            <a:off x="731520" y="2286000"/>
            <a:ext cx="5029200" cy="822960"/>
          </a:xfrm>
          <a:prstGeom prst="rect">
            <a:avLst/>
          </a:prstGeom>
          <a:solidFill>
            <a:srgbClr val="FD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1645920" cy="731520"/>
          </a:xfrm>
          <a:prstGeom prst="rect">
            <a:avLst/>
          </a:prstGeom>
          <a:noFill/>
        </p:spPr>
        <p:txBody>
          <a:bodyPr wrap="square">
            <a:spAutoFit/>
          </a:bodyPr>
          <a:lstStyle/>
          <a:p>
            <a:pPr algn="l">
              <a:defRPr sz="1400" b="1">
                <a:solidFill>
                  <a:srgbClr val="E74C3C"/>
                </a:solidFill>
              </a:defRPr>
            </a:pPr>
            <a:r>
              <a:t>親密性の回避固定化</a:t>
            </a:r>
          </a:p>
        </p:txBody>
      </p:sp>
      <p:sp>
        <p:nvSpPr>
          <p:cNvPr id="9" name="TextBox 8"/>
          <p:cNvSpPr txBox="1"/>
          <p:nvPr/>
        </p:nvSpPr>
        <p:spPr>
          <a:xfrm>
            <a:off x="2560320" y="2331720"/>
            <a:ext cx="3017520" cy="731520"/>
          </a:xfrm>
          <a:prstGeom prst="rect">
            <a:avLst/>
          </a:prstGeom>
          <a:noFill/>
        </p:spPr>
        <p:txBody>
          <a:bodyPr wrap="square">
            <a:spAutoFit/>
          </a:bodyPr>
          <a:lstStyle/>
          <a:p>
            <a:pPr algn="l">
              <a:defRPr sz="1300" b="0">
                <a:solidFill>
                  <a:srgbClr val="1A1A1A"/>
                </a:solidFill>
              </a:defRPr>
            </a:pPr>
            <a:r>
              <a:t>エリクソン第6段階を未解決のまま通過 → 孤立の慢性化</a:t>
            </a:r>
          </a:p>
        </p:txBody>
      </p:sp>
      <p:sp>
        <p:nvSpPr>
          <p:cNvPr id="10" name="Rectangle 9"/>
          <p:cNvSpPr/>
          <p:nvPr/>
        </p:nvSpPr>
        <p:spPr>
          <a:xfrm>
            <a:off x="731520" y="3200400"/>
            <a:ext cx="5029200" cy="822960"/>
          </a:xfrm>
          <a:prstGeom prst="rect">
            <a:avLst/>
          </a:prstGeom>
          <a:solidFill>
            <a:srgbClr val="FD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246120"/>
            <a:ext cx="1645920" cy="731520"/>
          </a:xfrm>
          <a:prstGeom prst="rect">
            <a:avLst/>
          </a:prstGeom>
          <a:noFill/>
        </p:spPr>
        <p:txBody>
          <a:bodyPr wrap="square">
            <a:spAutoFit/>
          </a:bodyPr>
          <a:lstStyle/>
          <a:p>
            <a:pPr algn="l">
              <a:defRPr sz="1400" b="1">
                <a:solidFill>
                  <a:srgbClr val="E74C3C"/>
                </a:solidFill>
              </a:defRPr>
            </a:pPr>
            <a:r>
              <a:t>過剰統制</a:t>
            </a:r>
          </a:p>
        </p:txBody>
      </p:sp>
      <p:sp>
        <p:nvSpPr>
          <p:cNvPr id="12" name="TextBox 11"/>
          <p:cNvSpPr txBox="1"/>
          <p:nvPr/>
        </p:nvSpPr>
        <p:spPr>
          <a:xfrm>
            <a:off x="2560320" y="3246120"/>
            <a:ext cx="3017520" cy="731520"/>
          </a:xfrm>
          <a:prstGeom prst="rect">
            <a:avLst/>
          </a:prstGeom>
          <a:noFill/>
        </p:spPr>
        <p:txBody>
          <a:bodyPr wrap="square">
            <a:spAutoFit/>
          </a:bodyPr>
          <a:lstStyle/>
          <a:p>
            <a:pPr algn="l">
              <a:defRPr sz="1300" b="0">
                <a:solidFill>
                  <a:srgbClr val="1A1A1A"/>
                </a:solidFill>
              </a:defRPr>
            </a:pPr>
            <a:r>
              <a:t>秩序への希求が自身の柔軟性を喪失させる</a:t>
            </a:r>
          </a:p>
        </p:txBody>
      </p:sp>
      <p:sp>
        <p:nvSpPr>
          <p:cNvPr id="13" name="Rectangle 12"/>
          <p:cNvSpPr/>
          <p:nvPr/>
        </p:nvSpPr>
        <p:spPr>
          <a:xfrm>
            <a:off x="731520" y="4114800"/>
            <a:ext cx="5029200" cy="822960"/>
          </a:xfrm>
          <a:prstGeom prst="rect">
            <a:avLst/>
          </a:prstGeom>
          <a:solidFill>
            <a:srgbClr val="FD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160520"/>
            <a:ext cx="1645920" cy="731520"/>
          </a:xfrm>
          <a:prstGeom prst="rect">
            <a:avLst/>
          </a:prstGeom>
          <a:noFill/>
        </p:spPr>
        <p:txBody>
          <a:bodyPr wrap="square">
            <a:spAutoFit/>
          </a:bodyPr>
          <a:lstStyle/>
          <a:p>
            <a:pPr algn="l">
              <a:defRPr sz="1400" b="1">
                <a:solidFill>
                  <a:srgbClr val="E74C3C"/>
                </a:solidFill>
              </a:defRPr>
            </a:pPr>
            <a:r>
              <a:t>委譲能力の未発達</a:t>
            </a:r>
          </a:p>
        </p:txBody>
      </p:sp>
      <p:sp>
        <p:nvSpPr>
          <p:cNvPr id="15" name="TextBox 14"/>
          <p:cNvSpPr txBox="1"/>
          <p:nvPr/>
        </p:nvSpPr>
        <p:spPr>
          <a:xfrm>
            <a:off x="2560320" y="4160520"/>
            <a:ext cx="3017520" cy="731520"/>
          </a:xfrm>
          <a:prstGeom prst="rect">
            <a:avLst/>
          </a:prstGeom>
          <a:noFill/>
        </p:spPr>
        <p:txBody>
          <a:bodyPr wrap="square">
            <a:spAutoFit/>
          </a:bodyPr>
          <a:lstStyle/>
          <a:p>
            <a:pPr algn="l">
              <a:defRPr sz="1300" b="0">
                <a:solidFill>
                  <a:srgbClr val="1A1A1A"/>
                </a:solidFill>
              </a:defRPr>
            </a:pPr>
            <a:r>
              <a:t>「自分でやった方が早い」が協働の可能性を閉じる</a:t>
            </a:r>
          </a:p>
        </p:txBody>
      </p:sp>
      <p:sp>
        <p:nvSpPr>
          <p:cNvPr id="16" name="Rectangle 15"/>
          <p:cNvSpPr/>
          <p:nvPr/>
        </p:nvSpPr>
        <p:spPr>
          <a:xfrm>
            <a:off x="6400800" y="1371600"/>
            <a:ext cx="5029200" cy="822960"/>
          </a:xfrm>
          <a:prstGeom prst="rect">
            <a:avLst/>
          </a:prstGeom>
          <a:solidFill>
            <a:srgbClr val="EAF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417320"/>
            <a:ext cx="1645920" cy="731520"/>
          </a:xfrm>
          <a:prstGeom prst="rect">
            <a:avLst/>
          </a:prstGeom>
          <a:noFill/>
        </p:spPr>
        <p:txBody>
          <a:bodyPr wrap="square">
            <a:spAutoFit/>
          </a:bodyPr>
          <a:lstStyle/>
          <a:p>
            <a:pPr algn="l">
              <a:defRPr sz="1400" b="1">
                <a:solidFill>
                  <a:srgbClr val="27AE60"/>
                </a:solidFill>
              </a:defRPr>
            </a:pPr>
            <a:r>
              <a:t>安定した生産期</a:t>
            </a:r>
          </a:p>
        </p:txBody>
      </p:sp>
      <p:sp>
        <p:nvSpPr>
          <p:cNvPr id="18" name="TextBox 17"/>
          <p:cNvSpPr txBox="1"/>
          <p:nvPr/>
        </p:nvSpPr>
        <p:spPr>
          <a:xfrm>
            <a:off x="8229600" y="1417320"/>
            <a:ext cx="3017520" cy="731520"/>
          </a:xfrm>
          <a:prstGeom prst="rect">
            <a:avLst/>
          </a:prstGeom>
          <a:noFill/>
        </p:spPr>
        <p:txBody>
          <a:bodyPr wrap="square">
            <a:spAutoFit/>
          </a:bodyPr>
          <a:lstStyle/>
          <a:p>
            <a:pPr algn="l">
              <a:defRPr sz="1300" b="0">
                <a:solidFill>
                  <a:srgbClr val="1A1A1A"/>
                </a:solidFill>
              </a:defRPr>
            </a:pPr>
            <a:r>
              <a:t>30歳の過渡期を創造物で通過 → 33歳以降に安定</a:t>
            </a:r>
          </a:p>
        </p:txBody>
      </p:sp>
      <p:sp>
        <p:nvSpPr>
          <p:cNvPr id="19" name="Rectangle 18"/>
          <p:cNvSpPr/>
          <p:nvPr/>
        </p:nvSpPr>
        <p:spPr>
          <a:xfrm>
            <a:off x="6400800" y="2286000"/>
            <a:ext cx="5029200" cy="822960"/>
          </a:xfrm>
          <a:prstGeom prst="rect">
            <a:avLst/>
          </a:prstGeom>
          <a:solidFill>
            <a:srgbClr val="EAF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331720"/>
            <a:ext cx="1645920" cy="731520"/>
          </a:xfrm>
          <a:prstGeom prst="rect">
            <a:avLst/>
          </a:prstGeom>
          <a:noFill/>
        </p:spPr>
        <p:txBody>
          <a:bodyPr wrap="square">
            <a:spAutoFit/>
          </a:bodyPr>
          <a:lstStyle/>
          <a:p>
            <a:pPr algn="l">
              <a:defRPr sz="1400" b="1">
                <a:solidFill>
                  <a:srgbClr val="27AE60"/>
                </a:solidFill>
              </a:defRPr>
            </a:pPr>
            <a:r>
              <a:t>メンターへの発展</a:t>
            </a:r>
          </a:p>
        </p:txBody>
      </p:sp>
      <p:sp>
        <p:nvSpPr>
          <p:cNvPr id="21" name="TextBox 20"/>
          <p:cNvSpPr txBox="1"/>
          <p:nvPr/>
        </p:nvSpPr>
        <p:spPr>
          <a:xfrm>
            <a:off x="8229600" y="2331720"/>
            <a:ext cx="3017520" cy="731520"/>
          </a:xfrm>
          <a:prstGeom prst="rect">
            <a:avLst/>
          </a:prstGeom>
          <a:noFill/>
        </p:spPr>
        <p:txBody>
          <a:bodyPr wrap="square">
            <a:spAutoFit/>
          </a:bodyPr>
          <a:lstStyle/>
          <a:p>
            <a:pPr algn="l">
              <a:defRPr sz="1300" b="0">
                <a:solidFill>
                  <a:srgbClr val="1A1A1A"/>
                </a:solidFill>
              </a:defRPr>
            </a:pPr>
            <a:r>
              <a:t>「提供したい」欲求が師弟関係に発展しうる</a:t>
            </a:r>
          </a:p>
        </p:txBody>
      </p:sp>
      <p:sp>
        <p:nvSpPr>
          <p:cNvPr id="22" name="Rectangle 21"/>
          <p:cNvSpPr/>
          <p:nvPr/>
        </p:nvSpPr>
        <p:spPr>
          <a:xfrm>
            <a:off x="6400800" y="3200400"/>
            <a:ext cx="5029200" cy="822960"/>
          </a:xfrm>
          <a:prstGeom prst="rect">
            <a:avLst/>
          </a:prstGeom>
          <a:solidFill>
            <a:srgbClr val="EAF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246120"/>
            <a:ext cx="1645920" cy="731520"/>
          </a:xfrm>
          <a:prstGeom prst="rect">
            <a:avLst/>
          </a:prstGeom>
          <a:noFill/>
        </p:spPr>
        <p:txBody>
          <a:bodyPr wrap="square">
            <a:spAutoFit/>
          </a:bodyPr>
          <a:lstStyle/>
          <a:p>
            <a:pPr algn="l">
              <a:defRPr sz="1400" b="1">
                <a:solidFill>
                  <a:srgbClr val="27AE60"/>
                </a:solidFill>
              </a:defRPr>
            </a:pPr>
            <a:r>
              <a:t>思想の普遍化</a:t>
            </a:r>
          </a:p>
        </p:txBody>
      </p:sp>
      <p:sp>
        <p:nvSpPr>
          <p:cNvPr id="24" name="TextBox 23"/>
          <p:cNvSpPr txBox="1"/>
          <p:nvPr/>
        </p:nvSpPr>
        <p:spPr>
          <a:xfrm>
            <a:off x="8229600" y="3246120"/>
            <a:ext cx="3017520" cy="731520"/>
          </a:xfrm>
          <a:prstGeom prst="rect">
            <a:avLst/>
          </a:prstGeom>
          <a:noFill/>
        </p:spPr>
        <p:txBody>
          <a:bodyPr wrap="square">
            <a:spAutoFit/>
          </a:bodyPr>
          <a:lstStyle/>
          <a:p>
            <a:pPr algn="l">
              <a:defRPr sz="1300" b="0">
                <a:solidFill>
                  <a:srgbClr val="1A1A1A"/>
                </a:solidFill>
              </a:defRPr>
            </a:pPr>
            <a:r>
              <a:t>10箇条は組織論として普遍的。知的生産はまだ序盤</a:t>
            </a:r>
          </a:p>
        </p:txBody>
      </p:sp>
      <p:sp>
        <p:nvSpPr>
          <p:cNvPr id="25" name="Rectangle 24"/>
          <p:cNvSpPr/>
          <p:nvPr/>
        </p:nvSpPr>
        <p:spPr>
          <a:xfrm>
            <a:off x="6400800" y="4114800"/>
            <a:ext cx="5029200" cy="822960"/>
          </a:xfrm>
          <a:prstGeom prst="rect">
            <a:avLst/>
          </a:prstGeom>
          <a:solidFill>
            <a:srgbClr val="EAF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4160520"/>
            <a:ext cx="1645920" cy="731520"/>
          </a:xfrm>
          <a:prstGeom prst="rect">
            <a:avLst/>
          </a:prstGeom>
          <a:noFill/>
        </p:spPr>
        <p:txBody>
          <a:bodyPr wrap="square">
            <a:spAutoFit/>
          </a:bodyPr>
          <a:lstStyle/>
          <a:p>
            <a:pPr algn="l">
              <a:defRPr sz="1400" b="1">
                <a:solidFill>
                  <a:srgbClr val="27AE60"/>
                </a:solidFill>
              </a:defRPr>
            </a:pPr>
            <a:r>
              <a:t>信念の進化</a:t>
            </a:r>
          </a:p>
        </p:txBody>
      </p:sp>
      <p:sp>
        <p:nvSpPr>
          <p:cNvPr id="27" name="TextBox 26"/>
          <p:cNvSpPr txBox="1"/>
          <p:nvPr/>
        </p:nvSpPr>
        <p:spPr>
          <a:xfrm>
            <a:off x="8229600" y="4160520"/>
            <a:ext cx="3017520" cy="731520"/>
          </a:xfrm>
          <a:prstGeom prst="rect">
            <a:avLst/>
          </a:prstGeom>
          <a:noFill/>
        </p:spPr>
        <p:txBody>
          <a:bodyPr wrap="square">
            <a:spAutoFit/>
          </a:bodyPr>
          <a:lstStyle/>
          <a:p>
            <a:pPr algn="l">
              <a:defRPr sz="1300" b="0">
                <a:solidFill>
                  <a:srgbClr val="1A1A1A"/>
                </a:solidFill>
              </a:defRPr>
            </a:pPr>
            <a:r>
              <a:t>「期待するな」→「期待の仕方を変える」への進化余地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square">
            <a:spAutoFit/>
          </a:bodyPr>
          <a:lstStyle/>
          <a:p>
            <a:pPr algn="ctr">
              <a:defRPr sz="3200" b="1">
                <a:solidFill>
                  <a:srgbClr val="FFFFFF"/>
                </a:solidFill>
              </a:defRPr>
            </a:pPr>
            <a:r>
              <a:t>X. 総合所見</a:t>
            </a:r>
          </a:p>
        </p:txBody>
      </p:sp>
      <p:sp>
        <p:nvSpPr>
          <p:cNvPr id="4" name="Rectangle 3"/>
          <p:cNvSpPr/>
          <p:nvPr/>
        </p:nvSpPr>
        <p:spPr>
          <a:xfrm>
            <a:off x="914400" y="1645920"/>
            <a:ext cx="10362895" cy="201168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828800"/>
            <a:ext cx="9784080" cy="1828800"/>
          </a:xfrm>
          <a:prstGeom prst="rect">
            <a:avLst/>
          </a:prstGeom>
          <a:noFill/>
        </p:spPr>
        <p:txBody>
          <a:bodyPr wrap="square">
            <a:spAutoFit/>
          </a:bodyPr>
          <a:lstStyle/>
          <a:p>
            <a:pPr algn="l">
              <a:defRPr sz="1700" b="0">
                <a:solidFill>
                  <a:srgbClr val="FFFFFF"/>
                </a:solidFill>
              </a:defRPr>
            </a:pPr>
            <a:r>
              <a:t>この人物は、同年代より著しく高い認知的成熟を持ち、8年間の職業経験で蓄積した「人間の不完全さ」への洞察を、32歳にして既に体系的な設計哲学に昇華させている。その代償として対人的親密性の発達が抑制されているが、これは不可逆ではなく、k1s0の成功と協働者の出現によって開かれる余地がある。</a:t>
            </a:r>
          </a:p>
        </p:txBody>
      </p:sp>
      <p:sp>
        <p:nvSpPr>
          <p:cNvPr id="6" name="TextBox 5"/>
          <p:cNvSpPr txBox="1"/>
          <p:nvPr/>
        </p:nvSpPr>
        <p:spPr>
          <a:xfrm>
            <a:off x="914400" y="3931920"/>
            <a:ext cx="10362895" cy="457200"/>
          </a:xfrm>
          <a:prstGeom prst="rect">
            <a:avLst/>
          </a:prstGeom>
          <a:noFill/>
        </p:spPr>
        <p:txBody>
          <a:bodyPr wrap="square">
            <a:spAutoFit/>
          </a:bodyPr>
          <a:lstStyle/>
          <a:p>
            <a:pPr algn="ctr">
              <a:defRPr sz="2000" b="1">
                <a:solidFill>
                  <a:srgbClr val="7F8C8D"/>
                </a:solidFill>
              </a:defRPr>
            </a:pPr>
            <a:r>
              <a:t>心理的肖像（一文要約）</a:t>
            </a:r>
          </a:p>
        </p:txBody>
      </p:sp>
      <p:sp>
        <p:nvSpPr>
          <p:cNvPr id="7" name="Rectangle 6"/>
          <p:cNvSpPr/>
          <p:nvPr/>
        </p:nvSpPr>
        <p:spPr>
          <a:xfrm>
            <a:off x="914400" y="4572000"/>
            <a:ext cx="10362895" cy="164592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4754880"/>
            <a:ext cx="9784080" cy="1371600"/>
          </a:xfrm>
          <a:prstGeom prst="rect">
            <a:avLst/>
          </a:prstGeom>
          <a:noFill/>
        </p:spPr>
        <p:txBody>
          <a:bodyPr wrap="square">
            <a:spAutoFit/>
          </a:bodyPr>
          <a:lstStyle/>
          <a:p>
            <a:pPr algn="ctr">
              <a:defRPr sz="2000" b="1">
                <a:solidFill>
                  <a:srgbClr val="FFFFFF"/>
                </a:solidFill>
              </a:defRPr>
            </a:pPr>
            <a:r>
              <a:t>繰り返し傷ついた信頼を、構造的秩序の創造という昇華によって回復不能な形で再構築しようとしている、高機能な孤独の建築家。</a:t>
            </a:r>
            <a:br/>
            <a:br/>
            <a:r>
              <a:t>人間を信頼しない。だからこそ、人間を助ける仕組みを作る。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